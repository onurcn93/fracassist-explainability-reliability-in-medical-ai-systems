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67" r:id="rId5"/>
    <p:sldId id="269" r:id="rId6"/>
    <p:sldId id="259" r:id="rId7"/>
    <p:sldId id="270" r:id="rId8"/>
    <p:sldId id="271" r:id="rId9"/>
    <p:sldId id="260" r:id="rId10"/>
    <p:sldId id="272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52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28B3-5B1A-9854-6DEC-B624AFA6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F5FC8-33F5-095E-910B-459C73049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5FDCE-C02A-2D96-4801-30721413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6DAE-4AC2-6916-C689-FDE1B83A1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0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42C3-70DD-60A5-E457-C48D6798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CF057-799E-C27C-42E0-2DD800D9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95D3E-3398-79FB-895F-5D3DBFD4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0A452-2445-7D95-35A1-371ACE312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25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7CA2-20A7-46E8-B8D8-CA6BE15B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BC189-91BB-3891-209C-4EE6AB3A6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75C9-4359-A930-5711-863D41965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94F9-BA0A-F2B7-B08D-B651582D48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93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516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Week </a:t>
            </a:r>
            <a:r>
              <a:rPr lang="tr-TR" sz="2800" b="1" dirty="0">
                <a:solidFill>
                  <a:srgbClr val="02C39A"/>
                </a:solidFill>
              </a:rPr>
              <a:t>2</a:t>
            </a:r>
            <a:r>
              <a:rPr lang="en-US" sz="2800" b="1" dirty="0">
                <a:solidFill>
                  <a:srgbClr val="02C39A"/>
                </a:solidFill>
              </a:rPr>
              <a:t> Progress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9239" y="1910079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Bone Fracture </a:t>
            </a:r>
            <a:endParaRPr lang="tr-TR" sz="40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Detection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Dataset Analysis &amp; </a:t>
            </a:r>
            <a:r>
              <a:rPr lang="tr-TR" sz="4000" b="1" dirty="0">
                <a:solidFill>
                  <a:srgbClr val="FFFFFF"/>
                </a:solidFill>
              </a:rPr>
              <a:t>XAI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71178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rgbClr val="00A896"/>
                </a:solidFill>
              </a:rPr>
              <a:t>FracAtlas &amp; MURA </a:t>
            </a:r>
            <a:r>
              <a:rPr lang="tr-TR" sz="2400" i="1" dirty="0">
                <a:solidFill>
                  <a:srgbClr val="00A896"/>
                </a:solidFill>
              </a:rPr>
              <a:t>&amp; GRAZPEDWRI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</a:rPr>
              <a:t>MSc Thesis: Explainability &amp; Reliability in Medical AI</a:t>
            </a:r>
            <a:endParaRPr lang="tr-TR" sz="1400" dirty="0">
              <a:solidFill>
                <a:srgbClr val="F5F5F5"/>
              </a:solidFill>
            </a:endParaRPr>
          </a:p>
          <a:p>
            <a:pPr marL="0" indent="0" algn="ctr">
              <a:buNone/>
            </a:pPr>
            <a:r>
              <a:rPr lang="tr-TR" sz="1400" dirty="0">
                <a:solidFill>
                  <a:srgbClr val="F5F5F5"/>
                </a:solidFill>
              </a:rPr>
              <a:t>Prof. Dr. Ayşe Berrin Yanıkoğlu &amp; Onur Can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Dataset Decision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Primary</a:t>
            </a:r>
            <a:r>
              <a:rPr lang="tr-TR" sz="1200" b="1" dirty="0">
                <a:solidFill>
                  <a:srgbClr val="2C3E50"/>
                </a:solidFill>
              </a:rPr>
              <a:t> Datasets</a:t>
            </a:r>
            <a:r>
              <a:rPr lang="en-US" sz="1200" b="1" dirty="0">
                <a:solidFill>
                  <a:srgbClr val="2C3E50"/>
                </a:solidFill>
              </a:rPr>
              <a:t>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FracAtlas</a:t>
            </a:r>
            <a:endParaRPr lang="en-US" sz="1200" dirty="0"/>
          </a:p>
          <a:p>
            <a:r>
              <a:rPr lang="en-US" sz="1200" dirty="0">
                <a:solidFill>
                  <a:srgbClr val="028090"/>
                </a:solidFill>
              </a:rPr>
              <a:t>GRAZPEDWRI</a:t>
            </a:r>
            <a:endParaRPr lang="tr-TR" sz="1200" b="1" dirty="0">
              <a:solidFill>
                <a:srgbClr val="2C3E50"/>
              </a:solidFill>
            </a:endParaRPr>
          </a:p>
          <a:p>
            <a:r>
              <a:rPr lang="en-US" sz="1200" dirty="0">
                <a:solidFill>
                  <a:srgbClr val="028090"/>
                </a:solidFill>
              </a:rPr>
              <a:t>MURA</a:t>
            </a:r>
          </a:p>
        </p:txBody>
      </p:sp>
      <p:sp>
        <p:nvSpPr>
          <p:cNvPr id="8" name="Text 4"/>
          <p:cNvSpPr/>
          <p:nvPr/>
        </p:nvSpPr>
        <p:spPr>
          <a:xfrm>
            <a:off x="3313853" y="122089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600" b="1" dirty="0">
                <a:solidFill>
                  <a:srgbClr val="1E2761"/>
                </a:solidFill>
              </a:rPr>
              <a:t>Critical Mentions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878667" y="1728893"/>
            <a:ext cx="297349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200" b="1" dirty="0">
                <a:solidFill>
                  <a:srgbClr val="2C3E50"/>
                </a:solidFill>
              </a:rPr>
              <a:t>Peer-Rewieved – Published (Nature)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C3E50"/>
                </a:solidFill>
              </a:rPr>
              <a:t>«Labeled» and «Bounding Boxed»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Binary only</a:t>
            </a:r>
            <a:endParaRPr lang="tr-TR" sz="1200" b="1" dirty="0">
              <a:solidFill>
                <a:srgbClr val="2C3E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Fractured vs. Non-fractured</a:t>
            </a:r>
            <a:endParaRPr lang="tr-TR" sz="1200" dirty="0">
              <a:solidFill>
                <a:srgbClr val="2C3E50"/>
              </a:solidFill>
            </a:endParaRPr>
          </a:p>
          <a:p>
            <a:pPr marL="0" indent="0">
              <a:buNone/>
            </a:pPr>
            <a:r>
              <a:rPr lang="tr-TR" sz="1200" b="1" dirty="0">
                <a:solidFill>
                  <a:srgbClr val="2C3E50"/>
                </a:solidFill>
              </a:rPr>
              <a:t>2D Images</a:t>
            </a:r>
          </a:p>
          <a:p>
            <a:pPr marL="0" indent="0">
              <a:buNone/>
            </a:pPr>
            <a:r>
              <a:rPr lang="tr-TR" sz="1200" b="1" dirty="0">
                <a:solidFill>
                  <a:srgbClr val="2C3E50"/>
                </a:solidFill>
              </a:rPr>
              <a:t>Subject Matter Experts (MDs) Established</a:t>
            </a:r>
            <a:endParaRPr lang="en-US" sz="1200" b="1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1887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0" y="1229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Recommendation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35040" y="1654386"/>
            <a:ext cx="2560320" cy="1259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C3E50"/>
                </a:solidFill>
              </a:rPr>
              <a:t>MSc</a:t>
            </a:r>
            <a:r>
              <a:rPr lang="tr-TR" sz="1200" dirty="0">
                <a:solidFill>
                  <a:srgbClr val="2C3E5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Binary </a:t>
            </a:r>
            <a:r>
              <a:rPr lang="tr-TR" sz="1200" dirty="0">
                <a:solidFill>
                  <a:srgbClr val="2C3E50"/>
                </a:solidFill>
              </a:rPr>
              <a:t>D</a:t>
            </a:r>
            <a:r>
              <a:rPr lang="en-US" sz="1200" dirty="0" err="1">
                <a:solidFill>
                  <a:srgbClr val="2C3E50"/>
                </a:solidFill>
              </a:rPr>
              <a:t>etection</a:t>
            </a:r>
            <a:r>
              <a:rPr lang="en-US" sz="1200" dirty="0">
                <a:solidFill>
                  <a:srgbClr val="2C3E50"/>
                </a:solidFill>
              </a:rPr>
              <a:t> </a:t>
            </a:r>
            <a:r>
              <a:rPr lang="tr-TR" sz="1200" dirty="0">
                <a:solidFill>
                  <a:srgbClr val="2C3E50"/>
                </a:solidFill>
              </a:rPr>
              <a:t>+ XAI + Labeling/Attribute Generation</a:t>
            </a:r>
            <a:endParaRPr lang="en-US" sz="1200" dirty="0"/>
          </a:p>
          <a:p>
            <a:r>
              <a:rPr lang="en-US" sz="1200" b="1" dirty="0">
                <a:solidFill>
                  <a:srgbClr val="2C3E50"/>
                </a:solidFill>
              </a:rPr>
              <a:t>PhD</a:t>
            </a:r>
            <a:r>
              <a:rPr lang="tr-TR" sz="1200" b="1" dirty="0">
                <a:solidFill>
                  <a:srgbClr val="2C3E50"/>
                </a:solidFill>
              </a:rPr>
              <a:t>.</a:t>
            </a:r>
            <a:endParaRPr lang="en-US" sz="1200" b="1" dirty="0"/>
          </a:p>
          <a:p>
            <a:pPr marL="0" indent="0">
              <a:buNone/>
            </a:pPr>
            <a:r>
              <a:rPr lang="tr-TR" sz="1200" dirty="0">
                <a:solidFill>
                  <a:srgbClr val="2C3E50"/>
                </a:solidFill>
              </a:rPr>
              <a:t>MSc. Work + </a:t>
            </a:r>
            <a:r>
              <a:rPr lang="en-US" sz="1200" dirty="0">
                <a:solidFill>
                  <a:srgbClr val="2C3E50"/>
                </a:solidFill>
              </a:rPr>
              <a:t>Severity assessment </a:t>
            </a:r>
            <a:r>
              <a:rPr lang="tr-TR" sz="1200" dirty="0">
                <a:solidFill>
                  <a:srgbClr val="2C3E50"/>
                </a:solidFill>
              </a:rPr>
              <a:t>+ Treatment Recommendation</a:t>
            </a:r>
          </a:p>
          <a:p>
            <a:pPr marL="0" indent="0">
              <a:buNone/>
            </a:pPr>
            <a:r>
              <a:rPr lang="tr-TR" sz="1200" b="1" dirty="0">
                <a:solidFill>
                  <a:srgbClr val="2C3E50"/>
                </a:solidFill>
              </a:rPr>
              <a:t>Computer Aided Diagnosis (CAD)</a:t>
            </a:r>
            <a:endParaRPr lang="en-US" sz="1200" b="1" dirty="0"/>
          </a:p>
        </p:txBody>
      </p:sp>
      <p:sp>
        <p:nvSpPr>
          <p:cNvPr id="13" name="Shape 8"/>
          <p:cNvSpPr/>
          <p:nvPr/>
        </p:nvSpPr>
        <p:spPr>
          <a:xfrm>
            <a:off x="548640" y="3163147"/>
            <a:ext cx="8046720" cy="166878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Status: Ready to proceed</a:t>
            </a:r>
            <a:r>
              <a:rPr lang="tr-TR" sz="2000" b="1" dirty="0">
                <a:solidFill>
                  <a:srgbClr val="FFFFFF"/>
                </a:solidFill>
              </a:rPr>
              <a:t> Dataset Dive &amp; SOTA &amp; Novelty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14400" y="3745653"/>
            <a:ext cx="731520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</a:t>
            </a:r>
            <a:r>
              <a:rPr lang="tr-TR" sz="1200" b="1" dirty="0">
                <a:solidFill>
                  <a:srgbClr val="FFFFFF"/>
                </a:solidFill>
              </a:rPr>
              <a:t>Domain – Sub Topic - Three</a:t>
            </a:r>
            <a:r>
              <a:rPr lang="en-US" sz="1200" b="1" dirty="0">
                <a:solidFill>
                  <a:srgbClr val="FFFFFF"/>
                </a:solidFill>
              </a:rPr>
              <a:t> high-quality public datasets </a:t>
            </a:r>
            <a:r>
              <a:rPr lang="en-US" sz="1200" dirty="0">
                <a:solidFill>
                  <a:srgbClr val="FFFFFF"/>
                </a:solidFill>
              </a:rPr>
              <a:t>identified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Baselines established and </a:t>
            </a:r>
            <a:r>
              <a:rPr lang="tr-TR" sz="1200" dirty="0">
                <a:solidFill>
                  <a:srgbClr val="FFFFFF"/>
                </a:solidFill>
              </a:rPr>
              <a:t>ready to test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Three-pillar framework </a:t>
            </a:r>
            <a:r>
              <a:rPr lang="tr-TR" sz="1200" dirty="0">
                <a:solidFill>
                  <a:srgbClr val="FFFFFF"/>
                </a:solidFill>
              </a:rPr>
              <a:t>(Resarch Gap) </a:t>
            </a:r>
            <a:r>
              <a:rPr lang="tr-TR" sz="1200" b="1" dirty="0">
                <a:solidFill>
                  <a:srgbClr val="FFC000"/>
                </a:solidFill>
              </a:rPr>
              <a:t>and novelty approach needs to be derived from papers!</a:t>
            </a:r>
            <a:endParaRPr lang="en-US" sz="1200" b="1" dirty="0">
              <a:solidFill>
                <a:srgbClr val="FFC000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</a:t>
            </a:r>
            <a:r>
              <a:rPr lang="tr-TR" sz="1200" dirty="0">
                <a:solidFill>
                  <a:srgbClr val="FFFFFF"/>
                </a:solidFill>
              </a:rPr>
              <a:t>Subject Matter Experts are ready to contribute</a:t>
            </a:r>
            <a:endParaRPr lang="en-US" sz="12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702BD7D-A41D-D254-E70C-1454B51CD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17009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FracAtlas Dataset Overview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60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Bangladesh Hospitals (2023) | Multi-Region Dataset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4,083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Total Images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3756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717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33756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Fractured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3,366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21792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Non-fractured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Available Annotations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Classification: Study-level (fractured/non-fractured)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8803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1091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Localization: Bounding boxes (YOLO, PASCAL VOC)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Segmentation: Instance masks (COCO JSON, VGG JSON)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7296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Multi-locale: hand, leg, hip, shoulder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" y="3675888"/>
            <a:ext cx="822960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58368" y="37856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(YOLOv8s)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58368" y="4069080"/>
            <a:ext cx="7863840" cy="228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Localization: </a:t>
            </a:r>
            <a:r>
              <a:rPr lang="en-US" sz="1100" dirty="0">
                <a:solidFill>
                  <a:srgbClr val="FFFFFF"/>
                </a:solidFill>
              </a:rPr>
              <a:t>Box Precision 80.7% | Recall 47.3% | mAP 56.2% @ IoU 0.5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70560" y="44074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Segmentation: </a:t>
            </a:r>
            <a:r>
              <a:rPr lang="en-US" sz="1100" dirty="0">
                <a:solidFill>
                  <a:srgbClr val="FFFFFF"/>
                </a:solidFill>
              </a:rPr>
              <a:t>Mask Precision 80.8% | Recall 47.1% | mAP 56.8% @ </a:t>
            </a:r>
            <a:r>
              <a:rPr lang="en-US" sz="1100" dirty="0" err="1">
                <a:solidFill>
                  <a:srgbClr val="FFFFFF"/>
                </a:solidFill>
              </a:rPr>
              <a:t>IoU</a:t>
            </a:r>
            <a:r>
              <a:rPr lang="en-US" sz="1100" dirty="0">
                <a:solidFill>
                  <a:srgbClr val="FFFFFF"/>
                </a:solidFill>
              </a:rPr>
              <a:t> 0.5</a:t>
            </a:r>
            <a:endParaRPr lang="tr-TR" sz="11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00000"/>
                </a:solidFill>
              </a:rPr>
              <a:t>Low recall (47%) = Many fractures missed → </a:t>
            </a:r>
            <a:r>
              <a:rPr lang="en-US" sz="1100" b="1" dirty="0">
                <a:solidFill>
                  <a:srgbClr val="C00000"/>
                </a:solidFill>
              </a:rPr>
              <a:t>Room for improvement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24CF-C2BB-425D-7EAF-D4B301C1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669E4C-0846-82BE-A5BB-2F6D6BD6AAE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FracAtlas Dataset Overview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C438A4-2074-DDEA-08E7-6D30A66D6F96}"/>
              </a:ext>
            </a:extLst>
          </p:cNvPr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CE76EBF-8B7A-6BFD-E8C1-5EA0D9299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34" y="1697354"/>
            <a:ext cx="2895620" cy="116576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33144E4-69A4-FCE4-75BC-FBFB551BE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89" y="3344923"/>
            <a:ext cx="3414199" cy="136821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D387EB8-2427-8FE5-6F27-46FA2F538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688" y="914400"/>
            <a:ext cx="3941323" cy="12661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989F79F-FB34-8C5E-3313-86657EFE6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892" y="2405100"/>
            <a:ext cx="3302914" cy="2658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416ADC-E8B7-5B91-3A70-C4C966231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0038" y="1285050"/>
            <a:ext cx="1038370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7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MURA Dataset Overview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60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Stanford MIDL 2018 | Stanford Hospital (2001-2012)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40,561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Total Images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3756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14,863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33756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Studies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12,173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21792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Patients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Available Annotations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Classification: Study-level (normal/abnormal)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8803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1091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Radiologist Agreement: 6 radiologists on test set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Gold Standard: Majority vote validation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7296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Localization: NOT available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6557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3232" y="3465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Segmentation: NOT available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640080" y="38587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(DenseNet-169)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AUROC: 0.929  |  Sensitivity: 81.5%  |  Specificity: 88.7%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Model ≈ Best radiologist on finger/wrist,</a:t>
            </a:r>
            <a:r>
              <a:rPr lang="en-US" sz="1000" i="1" dirty="0">
                <a:solidFill>
                  <a:srgbClr val="C00000"/>
                </a:solidFill>
              </a:rPr>
              <a:t> </a:t>
            </a:r>
            <a:r>
              <a:rPr lang="en-US" sz="1000" b="1" i="1" dirty="0">
                <a:solidFill>
                  <a:srgbClr val="C00000"/>
                </a:solidFill>
              </a:rPr>
              <a:t>lower on other regions</a:t>
            </a:r>
            <a:endParaRPr lang="en-US" sz="1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MURA Dataset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D239942-535B-FFC5-8C1D-8FF507850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50" y="965676"/>
            <a:ext cx="2898053" cy="17104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48FF88C-C65E-BD6F-A04C-74CE4B53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343" y="2794911"/>
            <a:ext cx="2898053" cy="21096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E1A72D5-6D11-34EE-B805-AC4A3ED47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874" y="868680"/>
            <a:ext cx="3068146" cy="1892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4183DC-E251-5062-61D3-503A145E4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288" y="2862423"/>
            <a:ext cx="2594518" cy="1974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GRAZPEDWRI-DX Dataset Overview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60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University Hospital Graz, Austria (2008-2018) | Pediatric Wrist Trauma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20,327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Total Images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3756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10,643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33756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Studies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256032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6,091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21792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Patients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Available Annotations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Classification: Image and object tags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8803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10912" y="28803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Localization: Bounding boxes, lines, polygons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Pediatric Focus: Ages 0-19 years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7296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Annotations: 67,771 objects + 74,459 image tags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6557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3232" y="3465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Formats: Supervisely, PASCAL VOC, YOLOv5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640080" y="38587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(</a:t>
            </a:r>
            <a:r>
              <a:rPr lang="en-US" sz="1800" b="1" dirty="0" err="1">
                <a:solidFill>
                  <a:srgbClr val="FFFFFF"/>
                </a:solidFill>
              </a:rPr>
              <a:t>YOLOv</a:t>
            </a:r>
            <a:r>
              <a:rPr lang="tr-TR" sz="1800" b="1" dirty="0">
                <a:solidFill>
                  <a:srgbClr val="FFFFFF"/>
                </a:solidFill>
              </a:rPr>
              <a:t>8</a:t>
            </a:r>
            <a:r>
              <a:rPr lang="en-US" sz="1800" b="1" dirty="0">
                <a:solidFill>
                  <a:srgbClr val="FFFFFF"/>
                </a:solidFill>
              </a:rPr>
              <a:t>)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Fracture Detection: Precision 91.7% | Recall 88.7% | mAP@0.5 93.3%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Focus: Wrist only (PA, lateral, oblique projections)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3CD3-BE6E-FE69-A0C5-550E0BCF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80C313-7285-C3C7-D319-C142DDB89B3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GRAZPEDWRI-DX Dataset Overview</a:t>
            </a:r>
            <a:endParaRPr lang="en-US" sz="4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28CA13-7BA1-2BCF-2192-5AB079E0D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9" y="1049700"/>
            <a:ext cx="2952400" cy="35451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9DCB9B2-0E95-32A2-505D-4CA3C6943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83" y="822960"/>
            <a:ext cx="4564583" cy="127442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C8B823-751A-9410-3CFD-03C35574B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500" y="2275808"/>
            <a:ext cx="2978347" cy="21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61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Dataset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51301"/>
              </p:ext>
            </p:extLst>
          </p:nvPr>
        </p:nvGraphicFramePr>
        <p:xfrm>
          <a:off x="548640" y="1280160"/>
          <a:ext cx="8046721" cy="2438400"/>
        </p:xfrm>
        <a:graphic>
          <a:graphicData uri="http://schemas.openxmlformats.org/drawingml/2006/table">
            <a:tbl>
              <a:tblPr/>
              <a:tblGrid>
                <a:gridCol w="126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747">
                  <a:extLst>
                    <a:ext uri="{9D8B030D-6E8A-4147-A177-3AD203B41FA5}">
                      <a16:colId xmlns:a16="http://schemas.microsoft.com/office/drawing/2014/main" val="2914066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FracAtlas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MURA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GRAZPEDWRI-DX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4,083 images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40,561 images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20327 images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Fractured Cases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717 images (922 instances)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~5,818 abnormal studies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10643 studies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Task Support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Class + Localization + Segmentation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Classification only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Image and Object Detection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Annotation Level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Image + pixel masks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Study-level only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Mask and Bounding Box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Hand, Leg, Hip, Shoulder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 regions (Elbow, Finger, etc.)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Wrist Only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radiologists + orthopedist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 radiologists (test set)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Validated – Peer Reviwed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Baseline SOTA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YOLOv8 (mAP 56-63%)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DenseNet-169 (AUROC 0.929)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YOLOv8 (%90)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Code Available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 Yes (GitHub)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Architecture only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000" dirty="0"/>
                        <a:t>Yes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Localization, Segmentation, Attributes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Large-scale validation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Localization, Segmentation, 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1135-39FF-D448-3443-869F6897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85C445-1414-7BC6-631B-D1D9ACF3145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800" b="1" dirty="0">
                <a:solidFill>
                  <a:srgbClr val="1E2761"/>
                </a:solidFill>
              </a:rPr>
              <a:t>Medical Experts (MDs) are Reached Out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63788A-E980-2FD5-5FB5-40CE1BBB6755}"/>
              </a:ext>
            </a:extLst>
          </p:cNvPr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3FDFE-882A-622E-FD9E-DACA70E87EF7}"/>
              </a:ext>
            </a:extLst>
          </p:cNvPr>
          <p:cNvSpPr txBox="1"/>
          <p:nvPr/>
        </p:nvSpPr>
        <p:spPr>
          <a:xfrm>
            <a:off x="604520" y="1345350"/>
            <a:ext cx="45364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>
                <a:solidFill>
                  <a:srgbClr val="1E2761"/>
                </a:solidFill>
              </a:rPr>
              <a:t>T.C. </a:t>
            </a:r>
            <a:r>
              <a:rPr lang="en-US" b="1" dirty="0">
                <a:solidFill>
                  <a:srgbClr val="1E2761"/>
                </a:solidFill>
              </a:rPr>
              <a:t>Metin </a:t>
            </a:r>
            <a:r>
              <a:rPr lang="en-US" b="1" dirty="0" err="1">
                <a:solidFill>
                  <a:srgbClr val="1E2761"/>
                </a:solidFill>
              </a:rPr>
              <a:t>Sabancı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Baltalimanı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Kemik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Hastalıkları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Eğitim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ve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Araştırma</a:t>
            </a:r>
            <a:r>
              <a:rPr lang="en-US" b="1" dirty="0">
                <a:solidFill>
                  <a:srgbClr val="1E2761"/>
                </a:solidFill>
              </a:rPr>
              <a:t> </a:t>
            </a:r>
            <a:r>
              <a:rPr lang="en-US" b="1" dirty="0" err="1">
                <a:solidFill>
                  <a:srgbClr val="1E2761"/>
                </a:solidFill>
              </a:rPr>
              <a:t>Hastanesi</a:t>
            </a:r>
            <a:endParaRPr lang="tr-TR" b="1" dirty="0">
              <a:solidFill>
                <a:srgbClr val="1E276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tr-TR" sz="1400" dirty="0">
                <a:solidFill>
                  <a:srgbClr val="1E2761"/>
                </a:solidFill>
              </a:rPr>
              <a:t>Doç. Dr. Alper KÖKSAL (Ortopedi ve Travmatoloji)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tr-TR" sz="1400" dirty="0">
                <a:solidFill>
                  <a:srgbClr val="1E2761"/>
                </a:solidFill>
              </a:rPr>
              <a:t>Opr. Dr. Cem PEKGÜL (Ortopedi ve Travmatoloji)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tr-TR" sz="1400" dirty="0">
                <a:solidFill>
                  <a:srgbClr val="1E2761"/>
                </a:solidFill>
              </a:rPr>
              <a:t>Uzm. Dr. Ömer PEKGÜL (Radyoloji)</a:t>
            </a:r>
            <a:endParaRPr lang="en-US" sz="1400" dirty="0">
              <a:solidFill>
                <a:srgbClr val="1E276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35439-EB8B-9904-42B1-401CBDECE376}"/>
              </a:ext>
            </a:extLst>
          </p:cNvPr>
          <p:cNvSpPr txBox="1"/>
          <p:nvPr/>
        </p:nvSpPr>
        <p:spPr>
          <a:xfrm>
            <a:off x="604520" y="3551545"/>
            <a:ext cx="71424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>
                <a:solidFill>
                  <a:srgbClr val="1E2761"/>
                </a:solidFill>
              </a:rPr>
              <a:t>Subject Matter Experts ready to contribute/help Thesis and PhD study</a:t>
            </a:r>
            <a:endParaRPr lang="tr-TR" b="1" dirty="0">
              <a:solidFill>
                <a:srgbClr val="1E276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tr-TR" sz="1400" dirty="0">
                <a:solidFill>
                  <a:srgbClr val="1E2761"/>
                </a:solidFill>
              </a:rPr>
              <a:t>Image/Body Level X-RAY attribute generation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tr-TR" sz="1400" dirty="0">
                <a:solidFill>
                  <a:srgbClr val="1E2761"/>
                </a:solidFill>
              </a:rPr>
              <a:t>Input Labeling (Weak or Target)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tr-TR" sz="1400" dirty="0">
                <a:solidFill>
                  <a:srgbClr val="1E2761"/>
                </a:solidFill>
              </a:rPr>
              <a:t>Post-Hoc Commenting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tr-TR" sz="1400" dirty="0">
                <a:solidFill>
                  <a:srgbClr val="1E2761"/>
                </a:solidFill>
              </a:rPr>
              <a:t>Model Instance Based Validation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tr-TR" sz="1400" dirty="0">
                <a:solidFill>
                  <a:srgbClr val="1E2761"/>
                </a:solidFill>
              </a:rPr>
              <a:t>And/Or any other direction thesis work needs in terms of Medical Terminology</a:t>
            </a:r>
            <a:endParaRPr lang="en-US" sz="1400" dirty="0">
              <a:solidFill>
                <a:srgbClr val="1E276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E655D9-F472-DC4D-1A47-CA943EA51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732" y="1038883"/>
            <a:ext cx="2540793" cy="190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2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Critical Issues &amp; Decisions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DC2626">
              <a:alpha val="90000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Issue #1: No Severity Annotations</a:t>
            </a:r>
            <a:r>
              <a:rPr lang="tr-TR" sz="1800" b="1" dirty="0">
                <a:solidFill>
                  <a:srgbClr val="1E2761"/>
                </a:solidFill>
              </a:rPr>
              <a:t> (PhD Work)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Original MSc goal: Severity assessment (home rest / casting / surgery)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Reality: Both datasets only have binary labels (fractured vs. non-fractured)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8046720" cy="1097280"/>
          </a:xfrm>
          <a:prstGeom prst="rect">
            <a:avLst/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Issue #2: Confusion Pairs Undefined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Need to identify: What are the clinically challenging distinctions?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Options: Fractured vs. Normal | vs. Degenerative | vs. Hardware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023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Proposed Solutions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18872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1. Binary detection for MSc (feasible now, stays on timeline)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2. Use existing attributes (fracture masks, hardware, location)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3. Severity assessment becomes PhD extension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Three-Pillar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37744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Attributes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Concept Bottleneck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Fracture line presence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Fracture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Hardware presence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Multi-fracture 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37744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Examples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Prototype Networks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Typical fracture patterns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Nearest neighbors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Visual prototypes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Similar training cases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237744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Contrasts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Counterfactuals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Why fractured vs. normal?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949787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Attribute differences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3285067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Contrastive explanations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8090"/>
                </a:solidFill>
              </a:rPr>
              <a:t>UNIQUE CONTRIBUTION: First integration of all three pillars for bone fracture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Proposed Research Direction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78308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MSc Thesis Focus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Task: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Binary fracture detection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Dataset: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FracAtlas (primary) + MURA (validation)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Method: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Three-pillar explainability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59"/>
            <a:ext cx="3840480" cy="1783079"/>
          </a:xfrm>
          <a:prstGeom prst="rect">
            <a:avLst/>
          </a:prstGeom>
          <a:solidFill>
            <a:srgbClr val="00A896">
              <a:alpha val="90000"/>
            </a:srgbClr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PhD Extension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1206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Task: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Severity assessment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Requires: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500-1000 annotated images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Output: 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Treatment planning support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965960"/>
            <a:ext cx="36576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 Value &amp; Unique Contribution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914400" y="3703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Not just 'Is there a fracture?'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'WHY is it fractured?'</a:t>
            </a:r>
            <a:r>
              <a:rPr lang="en-US" sz="1200" dirty="0">
                <a:solidFill>
                  <a:srgbClr val="FFFFFF"/>
                </a:solidFill>
              </a:rPr>
              <a:t>
Supporting evidence for : attributes, similar cases, contrasts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Foundation for PhD: Detection → Severity → Treatment planning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Updated Timeline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1371600"/>
            <a:ext cx="118872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4300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1-2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68880" y="1444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Domain selection, dataset ID, lit review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1920240"/>
            <a:ext cx="118872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14300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r>
              <a:rPr lang="tr-TR" sz="1100" b="1" dirty="0">
                <a:solidFill>
                  <a:srgbClr val="FFFFFF"/>
                </a:solidFill>
              </a:rPr>
              <a:t>-4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468880" y="19933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2C3E50"/>
                </a:solidFill>
              </a:rPr>
              <a:t>Literature Search, </a:t>
            </a:r>
            <a:r>
              <a:rPr lang="en-US" sz="1100" dirty="0">
                <a:solidFill>
                  <a:srgbClr val="2C3E50"/>
                </a:solidFill>
              </a:rPr>
              <a:t>Dataset deep dive, SOTA investigation</a:t>
            </a:r>
            <a:r>
              <a:rPr lang="tr-TR" sz="1100" dirty="0">
                <a:solidFill>
                  <a:srgbClr val="2C3E50"/>
                </a:solidFill>
              </a:rPr>
              <a:t>, model prototype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7280" y="2468880"/>
            <a:ext cx="1188720" cy="4114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143000" y="2542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</a:t>
            </a:r>
            <a:r>
              <a:rPr lang="tr-TR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468880" y="2542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Attribute definition, decision on direction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1752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97280" y="3017520"/>
            <a:ext cx="1188720" cy="411480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14300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5-8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468880" y="30906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Implement 3-pillar system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566160"/>
            <a:ext cx="320040" cy="3200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97280" y="3566160"/>
            <a:ext cx="1188720" cy="411480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14300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9-10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2468880" y="36393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Experiments, evaluation, ablations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20040" cy="32004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097280" y="4114800"/>
            <a:ext cx="1188720" cy="411480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11430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11-12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468880" y="4187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Writing, polishing, defense prep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Key Decision Points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Binary detection vs. Severity assessment?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Binary: Feasible now, on timeline | Severity: Requires 500-1000 annotations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C39A"/>
                </a:solidFill>
              </a:rPr>
              <a:t>→ Binary for MSc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Radiologist access for annotations/validation?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Needed for: Severity grades OR prototype validation | Timeline impact if unavailable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C39A"/>
                </a:solidFill>
              </a:rPr>
              <a:t>→ Clarify availability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Which confusion pair priority?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Fractured vs. Normal (standard) | Fractured vs. Degenerative (novel)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C39A"/>
                </a:solidFill>
              </a:rPr>
              <a:t>→ Start with standard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679787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This Week (Week 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045547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Download &amp; explore datasets (Mon-Tue)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Reproduce baseline results (Wed)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Search SOTA papers 2023-2025 (Thu)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Prepare decision report (Fri)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7315200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3051387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 Week (Week 4)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325707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Finalize direction → Define attributes → Begin Pillar 1 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2C39A"/>
                </a:solidFill>
              </a:rPr>
              <a:t>Ready to code by Week </a:t>
            </a:r>
            <a:r>
              <a:rPr lang="tr-TR" sz="1800" b="1" i="1" dirty="0">
                <a:solidFill>
                  <a:srgbClr val="02C39A"/>
                </a:solidFill>
              </a:rPr>
              <a:t>3</a:t>
            </a:r>
            <a:r>
              <a:rPr lang="en-US" sz="1800" b="1" i="1" dirty="0">
                <a:solidFill>
                  <a:srgbClr val="02C39A"/>
                </a:solidFill>
              </a:rPr>
              <a:t> once direction confirmed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1144</Words>
  <Application>Microsoft Office PowerPoint</Application>
  <PresentationFormat>On-screen Show (16:9)</PresentationFormat>
  <Paragraphs>240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Supervisor Stand-Up: FracAtlas &amp; MURA Dataset Analysis</dc:title>
  <dc:subject>PptxGenJS Presentation</dc:subject>
  <dc:creator>Thesis Research</dc:creator>
  <cp:lastModifiedBy>Onur Can (Student)</cp:lastModifiedBy>
  <cp:revision>26</cp:revision>
  <dcterms:created xsi:type="dcterms:W3CDTF">2026-02-09T17:30:37Z</dcterms:created>
  <dcterms:modified xsi:type="dcterms:W3CDTF">2026-02-11T17:02:29Z</dcterms:modified>
</cp:coreProperties>
</file>