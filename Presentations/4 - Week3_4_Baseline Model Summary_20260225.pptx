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1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73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E1 Frozen</c:v>
                </c:pt>
                <c:pt idx="1">
                  <c:v>E2 Fine-tune</c:v>
                </c:pt>
                <c:pt idx="2">
                  <c:v>E3 Weighted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0.45900000000000002</c:v>
                </c:pt>
                <c:pt idx="1">
                  <c:v>0.50800000000000001</c:v>
                </c:pt>
                <c:pt idx="2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9B-4B9E-85FC-66929270DB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E1 Frozen</c:v>
                </c:pt>
                <c:pt idx="1">
                  <c:v>E2 Fine-tune</c:v>
                </c:pt>
                <c:pt idx="2">
                  <c:v>E3 Weighted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0.63600000000000001</c:v>
                </c:pt>
                <c:pt idx="1">
                  <c:v>0.79500000000000004</c:v>
                </c:pt>
                <c:pt idx="2">
                  <c:v>0.46100000000000002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9B-4B9E-85FC-66929270DB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DC65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E1 Frozen</c:v>
                </c:pt>
                <c:pt idx="1">
                  <c:v>E2 Fine-tune</c:v>
                </c:pt>
                <c:pt idx="2">
                  <c:v>E3 Weighted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0.53300000000000003</c:v>
                </c:pt>
                <c:pt idx="1">
                  <c:v>0.62</c:v>
                </c:pt>
                <c:pt idx="2">
                  <c:v>0.57699999999999996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9B-4B9E-85FC-66929270DBE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E1 Frozen</c:v>
                </c:pt>
                <c:pt idx="1">
                  <c:v>E2 Fine-tune</c:v>
                </c:pt>
                <c:pt idx="2">
                  <c:v>E3 Weighted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0.81799999999999995</c:v>
                </c:pt>
                <c:pt idx="1">
                  <c:v>0.87</c:v>
                </c:pt>
                <c:pt idx="2">
                  <c:v>0.85699999999999998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9B-4B9E-85FC-66929270DB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0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2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on FracAtlas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1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ResNet-18 Transfer Learning — Binary Fracture Detection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0" y="914400"/>
            <a:ext cx="2377440" cy="1097280"/>
          </a:xfrm>
          <a:prstGeom prst="rect">
            <a:avLst/>
          </a:prstGeom>
          <a:solidFill>
            <a:srgbClr val="1A2A3A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0" y="9875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2DC65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0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 (E3)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2377440" cy="1097280"/>
          </a:xfrm>
          <a:prstGeom prst="rect">
            <a:avLst/>
          </a:prstGeom>
          <a:solidFill>
            <a:srgbClr val="1A2A3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2677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Run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0" y="3474720"/>
            <a:ext cx="2377440" cy="1097280"/>
          </a:xfrm>
          <a:prstGeom prst="rect">
            <a:avLst/>
          </a:prstGeom>
          <a:solidFill>
            <a:srgbClr val="1A2A3A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35478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4142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3–4  ·  FracAtlas Dataset (4,083 images)  ·  Google Colab + Tesla T4 GPU  ·  Feb 24,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Goal for Weeks 3–4?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stable baseline before any XAI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"Construct a baseline using fundamental CV/DL methods on FracAtlas — image labels ONLY. Use your own approach, not paper SOTAs. Record findings: detection performance, patterns, surprises."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0" y="1901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Supervisor Week 2 Feedback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931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5720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" y="2176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Binary Classification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" y="250545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Fractured vs Non-Fractured</a:t>
            </a:r>
            <a:endParaRPr lang="en-US" sz="115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Image-level labels only — no bounding boxes, no CSV region annotations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2084832"/>
            <a:ext cx="3931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2084832"/>
            <a:ext cx="45720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55464" y="2176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3-Step Experiment Plan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55464" y="250545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Extraction (Frozen Backbone) → </a:t>
            </a: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Fine-Tune → </a:t>
            </a: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Fine Tune + Weighted Loss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informs the next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02152"/>
            <a:ext cx="3931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502152"/>
            <a:ext cx="45720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" y="35935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No XAI Yet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" y="392277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classification baseline comes first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tools (Grad-CAM, CBM etc.) planned for later stages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baseline enables fair later comparison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502152"/>
            <a:ext cx="3931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502152"/>
            <a:ext cx="45720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55464" y="35935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Record &amp; Analyse Everything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55464" y="392277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recall, precision, F1, AUC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errors by body part &amp; view angle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the model misses and why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 + ResNet-18?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ImageNet knowledge rather than random weights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5720" cy="3749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14300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81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1554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 = only 717 fractured images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8105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too few to train a CNN from scratch (needs 100k+)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24359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115215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2087783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pre-training = free head start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343815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Edges, textures, shapes already learned on 1.2M photos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81260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6721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26446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features DO transfer to X-rays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" y="29007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 (Stanford): DenseNet-ImageNet → radiologist-level bone X-rays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79456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2703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7824" y="3242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reduces training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34989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on a single T4 GPU vs weeks from scratch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45720" cy="37490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114300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ResNet-18 Specifically?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1481328"/>
            <a:ext cx="4114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6592" y="150876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15087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0" y="15087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773936"/>
            <a:ext cx="4114800" cy="512064"/>
          </a:xfrm>
          <a:prstGeom prst="rect">
            <a:avLst/>
          </a:prstGeom>
          <a:solidFill>
            <a:srgbClr val="EAF2F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36592" y="18653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97880" y="186537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186537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ideal for baseline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286000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36592" y="2377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97880" y="23774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23774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gradients, no vanishing gradient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798064"/>
            <a:ext cx="4114800" cy="512064"/>
          </a:xfrm>
          <a:prstGeom prst="rect">
            <a:avLst/>
          </a:prstGeom>
          <a:solidFill>
            <a:srgbClr val="EAF2F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36592" y="28895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897880" y="28895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288950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visual features from day 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310128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36592" y="34015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897880" y="340156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standard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0" y="34015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 paper: ResNet-18 on OAI bone X-rays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822192"/>
            <a:ext cx="4114800" cy="512064"/>
          </a:xfrm>
          <a:prstGeom prst="rect">
            <a:avLst/>
          </a:prstGeom>
          <a:solidFill>
            <a:srgbClr val="EAF2F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36592" y="39136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cost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897880" y="391363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391363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free Colab T4 GPU</a:t>
            </a:r>
            <a:endParaRPr lang="en-US" sz="950" dirty="0"/>
          </a:p>
        </p:txBody>
      </p:sp>
      <p:pic>
        <p:nvPicPr>
          <p:cNvPr id="1026" name="Picture 2" descr="Deep Learning- using ResNets for Transfer Learning | by Madhu Ramiah |  Medium">
            <a:extLst>
              <a:ext uri="{FF2B5EF4-FFF2-40B4-BE49-F238E27FC236}">
                <a16:creationId xmlns:a16="http://schemas.microsoft.com/office/drawing/2014/main" id="{E080B3B4-99B2-BFC2-CC6F-5BFC444A7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60" y="3765069"/>
            <a:ext cx="2374997" cy="133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Net: What, why and how?. Earlier this month, I began researching… | by  Steni Sebastian | Medium">
            <a:extLst>
              <a:ext uri="{FF2B5EF4-FFF2-40B4-BE49-F238E27FC236}">
                <a16:creationId xmlns:a16="http://schemas.microsoft.com/office/drawing/2014/main" id="{10BFEC18-AD27-9505-0615-F68B13488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145" y="4187952"/>
            <a:ext cx="2156657" cy="92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Experiment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experiment builds on the last — controlled progression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3703320"/>
          </a:xfrm>
          <a:prstGeom prst="rect">
            <a:avLst/>
          </a:prstGeom>
          <a:solidFill>
            <a:srgbClr val="0F2030"/>
          </a:solidFill>
          <a:ln w="19050">
            <a:solidFill>
              <a:srgbClr val="1D6A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97480" cy="502920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1832" y="1115568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" y="166420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D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" y="188366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all ResNet-18 layers.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the final classifier head.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26517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D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" y="287121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ImageNet knowledge transfer to X-rays? Absolute minimum baseline.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11880"/>
            <a:ext cx="2514600" cy="329184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61188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45.9%  |  AUC: 0.80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697480" cy="3703320"/>
          </a:xfrm>
          <a:prstGeom prst="rect">
            <a:avLst/>
          </a:prstGeom>
          <a:solidFill>
            <a:srgbClr val="0F2030"/>
          </a:solidFill>
          <a:ln w="1905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051560"/>
            <a:ext cx="2697480" cy="502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67912" y="1115568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74136" y="166420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74136" y="188366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ALL layers.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LR: backbone 1e-5, head 1e-3.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74136" y="26517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74136" y="287121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backbone to adapt to X-ray patterns (cortical edges, bone density).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611880"/>
            <a:ext cx="2514600" cy="3291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361188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50.8%  |  AUC: 0.87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1051560"/>
            <a:ext cx="2697480" cy="3703320"/>
          </a:xfrm>
          <a:prstGeom prst="rect">
            <a:avLst/>
          </a:prstGeom>
          <a:solidFill>
            <a:srgbClr val="0F2030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1051560"/>
            <a:ext cx="269748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93992" y="1115568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0216" y="166420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0216" y="188366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E2 + class-weighted loss.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weight = 4.4× non-fracture.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0216" y="26517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287121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missed fractures harder. Prioritise recall as the safety metric.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611880"/>
            <a:ext cx="2514600" cy="32918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361188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77.0%  |  AUC: 0.87  ← Best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44952" y="24688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971032" y="24688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 — 3-Step Transfer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8346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283464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— Feature Extraction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" y="1216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" y="1527048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 the final classification head (1,026 params). ImageNet features unchanged. Fast baseline — does pretrained knowledge transfer at all?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8346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72968" y="777240"/>
            <a:ext cx="28346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82696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— Full Fine-Tune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82696" y="1216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11.2M params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527048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entire ResNet-18. Very low backbone LR (1e-5) to preserve ImageNet knowledge, higher head LR (1e-3). Allows X-ray adaptation.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777240"/>
            <a:ext cx="28346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777240"/>
            <a:ext cx="2834640" cy="38404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54496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— Weighted Loss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4496" y="1216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priority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1527048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E2 but CrossEntropy weighted 2.85× for fractured class. Penalises missed fractures more than false alarms. Optimised for recall.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35808" y="193852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07608" y="193852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3246120"/>
            <a:ext cx="8759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2461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Setup: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 official splits (574 train / 82 val / 61 test fractured)  ·  ResNet-18 ImageNet pretrained (11M parameters)  ·  30 epochs, Adam, ReduceLROnPlateau  ·  224×224 px  ·  Weighted class recall as primary metric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4005072"/>
            <a:ext cx="2834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0896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ResNet-18?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" y="433425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bone X-rays (CBM paper), fast, 11.7M params — not too big to overfit 717 fractured images.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2968" y="4005072"/>
            <a:ext cx="2834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82696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 labels only?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82696" y="433425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bounding boxes. Forces model to learn from full X-ray — realistic clinical conditions.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4768" y="4005072"/>
            <a:ext cx="2834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54496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as primary?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433425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screening, missing a fracture (FN) is worse than a false alarm (FP). Recall = clinical safety metric.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— Feature Extraction: Learning Curves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 | Only final classifier head trained | 30 epochs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08736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4087368"/>
            <a:ext cx="36576" cy="804672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Loss converges but val &gt; train — ImageNet features not X-ray adapted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408736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450592" y="4087368"/>
            <a:ext cx="36576" cy="804672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42032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~87% accuracy misleading — majority class dominates predictions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26864" y="408736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26864" y="4087368"/>
            <a:ext cx="36576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18304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Val Recall oscillates 20–40% — barely detects fractures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03136" y="408736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03136" y="4087368"/>
            <a:ext cx="36576" cy="8046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94576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AUC 0.80 — discriminative power exists, threshold is wrong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— Verdict: 46% Recall — Not Clinically Viable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TN=255  FP=16  FN=33  TP=28  |  Recall=45.9%  Precision=63.6%  F1=0.53  AUC=0.80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29768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914400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709160" y="914400"/>
            <a:ext cx="45720" cy="8595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0" y="987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Missed Fractures (FN)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1261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actual fractures called 'Normal'. 33 patients sent home without diagnosis — clinically unacceptable.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901952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901952"/>
            <a:ext cx="45720" cy="8595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Frozen features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4942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features (objects, scenes) forced to classify X-rays unchanged. Model defaults to 'non-fractured' (safer prediction for majority class).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2889504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09160" y="2889504"/>
            <a:ext cx="45720" cy="859536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46320" y="29626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Accuracy is Deceptive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32369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ALL images as non-fractured gives 80% accuracy. E1 is barely better than a trivial classifier for the minority fracture class.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3877056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09160" y="3877056"/>
            <a:ext cx="45720" cy="8595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46320" y="3950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AUC=0.80 — Signal Exists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42245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poor recall, AUC shows the model CAN rank fractures vs non-fractures. Full fine-tuning may unlock this discriminative ability.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09160" y="4754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E1 shows transfer learning works in principle. Full fine-tuning needed to unlock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— Full Fine-Tuning: Learning Curves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unfrozen | Differential LR: backbone 1e-5, head 1e-3 | 30 epochs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08736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4087368"/>
            <a:ext cx="36576" cy="8046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Train loss → 0.08 — model fully adapts to X-ray data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408736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450592" y="4087368"/>
            <a:ext cx="36576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42032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Val loss oscillates — overfitting gap widens after epoch 15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26864" y="408736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26864" y="4087368"/>
            <a:ext cx="36576" cy="8046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18304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Val Recall 40–60% — improvement over E1 but inconsistent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03136" y="408736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03136" y="4087368"/>
            <a:ext cx="36576" cy="8046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94576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AUC 0.87 — backbone features now X-ray adapted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— Verdict: 51% Recall — Improved But Still Insufficient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TN=263  FP=8  FN=30  TP=31  |  Recall=50.8%  Precision=79.5%  F1=0.62  AUC=0.87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29768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914400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709160" y="914400"/>
            <a:ext cx="45720" cy="8595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0" y="987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30 Missed Fractures (FN)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1261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fewer than E1. Recall 50.8% — still missing half of all fractures. The model improved its confidence, not its coverage.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901952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901952"/>
            <a:ext cx="45720" cy="8595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79.5% — FP dropped to 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4942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 'fracture', it is more often right. False alarms halved. Precision-recall trade-off beginning to show.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2889504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09160" y="2889504"/>
            <a:ext cx="45720" cy="8595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46320" y="29626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Pattern Visible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32369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0.08 vs Val loss 0.35. Memorising training data. Generalisation to new X-rays is the challenge.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3877056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09160" y="3877056"/>
            <a:ext cx="45720" cy="8595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46320" y="3950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0.87 — Genuine Improvement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42245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ability confirmed. The model can separate fractures from non-fractures; the problem is the classification threshold. Weighted loss should fix this.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09160" y="4754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E2 proves fine-tuning adapts features. Recall-precision balance still needs class weighting.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— Weighted Loss: Learning Curves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weight: fracture = 4.4× | Penalises missed fractures harder | 30 epochs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087368"/>
            <a:ext cx="2011680" cy="804672"/>
          </a:xfrm>
          <a:prstGeom prst="rect">
            <a:avLst/>
          </a:prstGeom>
          <a:solidFill>
            <a:srgbClr val="EAFAF0"/>
          </a:solidFill>
          <a:ln w="12700">
            <a:solidFill>
              <a:srgbClr val="A8DF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4087368"/>
            <a:ext cx="36576" cy="8046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Val Recall stabilises 60–75% — weighted loss strategy worked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4087368"/>
            <a:ext cx="2011680" cy="804672"/>
          </a:xfrm>
          <a:prstGeom prst="rect">
            <a:avLst/>
          </a:prstGeom>
          <a:solidFill>
            <a:srgbClr val="EAFAF0"/>
          </a:solidFill>
          <a:ln w="12700">
            <a:solidFill>
              <a:srgbClr val="A8DF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450592" y="4087368"/>
            <a:ext cx="36576" cy="8046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42032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Val Accuracy holds ~87% — no catastrophic precision collapse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26864" y="4087368"/>
            <a:ext cx="2011680" cy="804672"/>
          </a:xfrm>
          <a:prstGeom prst="rect">
            <a:avLst/>
          </a:prstGeom>
          <a:solidFill>
            <a:srgbClr val="EAFAF0"/>
          </a:solidFill>
          <a:ln w="12700">
            <a:solidFill>
              <a:srgbClr val="A8DF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26864" y="4087368"/>
            <a:ext cx="36576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18304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Loss starts higher (0.6) — weighted penalty reshapes loss landscape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03136" y="4087368"/>
            <a:ext cx="2011680" cy="804672"/>
          </a:xfrm>
          <a:prstGeom prst="rect">
            <a:avLst/>
          </a:prstGeom>
          <a:solidFill>
            <a:srgbClr val="EAFAF0"/>
          </a:solidFill>
          <a:ln w="12700">
            <a:solidFill>
              <a:srgbClr val="A8DF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03136" y="4087368"/>
            <a:ext cx="36576" cy="8046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94576" y="41330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 0.87 maintained — ranking ability preserved while recall grows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— Verdict: 77% Recall — The Baseline is 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TN=216  FP=55  FN=14  TP=47  |  Recall=77.0%  Precision=46.1%  F1=0.58  AUC=0.87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29768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914400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709160" y="914400"/>
            <a:ext cx="45720" cy="8595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0" y="987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 Missed Fractures (FN)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1261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33 (E1). 47/61 fractures correctly found. 67% reduction in dangerous misses — the weighted loss directly translated to patient safety.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901952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901952"/>
            <a:ext cx="45720" cy="8595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False Alarms — Accepted Trade-Off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4942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healthy patients flagged for review. In medical AI, this is ACCEPTABLE: over-referral is manageable; missed fractures are not.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2889504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09160" y="2889504"/>
            <a:ext cx="45720" cy="8595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46320" y="29626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 = 4.4× for Fractures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32369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translation of clinical priority. Each training miss counts 4.4× worse than a false alarm — encoding domain knowledge into the loss.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3877056"/>
            <a:ext cx="40233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09160" y="3877056"/>
            <a:ext cx="45720" cy="8595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46320" y="3950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for Week 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42245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recall with no XAI, no bounding boxes, no augmentation. Every remaining miss is a specific body-part challenge — identifiable and addressable.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09160" y="4754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E3 is our confirmed baseline. Remaining misses are body-part specific — analysed on next slides.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Weighted Loss Is the Clinical Choice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73152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749808"/>
            <a:ext cx="33832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532120" y="749808"/>
            <a:ext cx="91440" cy="7498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0" y="7863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Recall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79552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45.9%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532120" y="1618488"/>
            <a:ext cx="33832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32120" y="1618488"/>
            <a:ext cx="9144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0" y="16550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Recall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fine-tune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16642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5532120" y="2487168"/>
            <a:ext cx="33832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32120" y="2487168"/>
            <a:ext cx="91440" cy="7498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15000" y="2523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Recall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weighted loss ★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25328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5532120" y="3401568"/>
            <a:ext cx="3383280" cy="10058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0" y="345643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Interpretation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catches 15 of 19* missed fractures that E2 left undetected. The precision drop (0.795→0.461) means more false alarms — acceptable in screening where missing a fracture is the greater harm.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Approximate — based on test set of 61 fractured images. Primary metric = Recall (Sensitivity).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Model Actually See?  —  E3 Sample Predictions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Correct detections (TP, green)  |  Row 2: Missed fractures (FN, red)  |  Row 3: False alarms — healthy flagged as fractured (FP, orange)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Breakdown by Body Part  —  E3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model fail? False Negatives (missed fractures) vs False Positives (false alarms)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96112"/>
            <a:ext cx="85953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17880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4178808"/>
            <a:ext cx="36576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422452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Leg: 6 FN (most dangerous)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" y="448056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missed fracture count. Long-bone cortical breaks can be very subtle — thin hairline cracks.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50592" y="417880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50592" y="4178808"/>
            <a:ext cx="36576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42032" y="422452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Hand: 31 FP (most alarming)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42032" y="448056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massively over-detects in hands. Surgical hardware (pins, plates) likely confuses it with fracture patterns.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26864" y="417880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26864" y="4178808"/>
            <a:ext cx="36576" cy="80467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18304" y="422452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concentrated in 2 classes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18304" y="448056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+ Hand account for 85%+ of all errors. Targeted augmentation for these two could significantly improve baseline.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03136" y="4178808"/>
            <a:ext cx="20116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803136" y="4178808"/>
            <a:ext cx="36576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94576" y="422452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Shoulder/Hip: 0 FN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894576" y="448056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fractures — but small sample size means low statistical confidence. Need more examples to confirm.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by Body Part  —  Where Does the Model Excel?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≥0.75 (clinically good) | Orange 0.50–0.75 (marginal) | E3 overall recall dashed line at 0.77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96112"/>
            <a:ext cx="859536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76732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3767328"/>
            <a:ext cx="36576" cy="1188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Hand: 85% recall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409651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class → most training examples → best learned. Strong foundation for Hand-specific XAI.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50592" y="376732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50592" y="3767328"/>
            <a:ext cx="36576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6032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Leg: 75% recall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60320" y="409651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at the E3 average. 6 FNs in absolute count. Most important class to improve next.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26864" y="376732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26864" y="3767328"/>
            <a:ext cx="36576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36592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Hand+Hardware: 50%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36592" y="409651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hardware confuses features. Hardware-aware preprocessing or augmentation needed.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03136" y="376732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803136" y="3767328"/>
            <a:ext cx="36576" cy="1188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12864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= 100%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12864" y="409651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Frontal+lateral together → perfect recall. Key implication: dual-view protocols improve safety.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View Angle Affect Performance?  —  E3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vs Frontal vs Oblique vs Combined — Error counts, accuracy, and sample sizes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96112"/>
            <a:ext cx="8595360" cy="3063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041648"/>
            <a:ext cx="2011680" cy="877824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4041648"/>
            <a:ext cx="36576" cy="87782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Frontal: 34 FP (volume issue)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34340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images = most common. High FP count from sheer volume, not lower accuracy per image.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50592" y="4041648"/>
            <a:ext cx="2011680" cy="877824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50592" y="4041648"/>
            <a:ext cx="36576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42032" y="40873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accuracy: 77%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42032" y="434340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below the 0.80 reference. More diverse fracture appearance in frontal views.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26864" y="4041648"/>
            <a:ext cx="2011680" cy="877824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26864" y="4041648"/>
            <a:ext cx="36576" cy="87782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18304" y="40873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Frontal+Lateral: 89% accuracy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18304" y="434340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among well-sampled groups. Consistent with body part analysis — dual view helps.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03136" y="4041648"/>
            <a:ext cx="2011680" cy="877824"/>
          </a:xfrm>
          <a:prstGeom prst="rect">
            <a:avLst/>
          </a:prstGeom>
          <a:solidFill>
            <a:srgbClr val="EAF2FB"/>
          </a:solidFill>
          <a:ln w="12700">
            <a:solidFill>
              <a:srgbClr val="BDD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803136" y="4041648"/>
            <a:ext cx="36576" cy="8778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94576" y="40873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Oblique views: distinctive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94576" y="434340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rate where sampled. Suggests oblique angles may provide complementary information.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Week 5 Directions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— what comes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931920" cy="493776"/>
          </a:xfrm>
          <a:prstGeom prst="rect">
            <a:avLst/>
          </a:prstGeom>
          <a:solidFill>
            <a:srgbClr val="0F2030"/>
          </a:solidFill>
          <a:ln w="1016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77% recall achieved — E3 weighted loss is our confirmed baseline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493776"/>
          </a:xfrm>
          <a:prstGeom prst="rect">
            <a:avLst/>
          </a:prstGeom>
          <a:solidFill>
            <a:srgbClr val="0F2030"/>
          </a:solidFill>
          <a:ln w="1016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fine-tuning: +5% recall and +0.07 AUC over feature extraction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3931920" cy="493776"/>
          </a:xfrm>
          <a:prstGeom prst="rect">
            <a:avLst/>
          </a:prstGeom>
          <a:solidFill>
            <a:srgbClr val="0F2030"/>
          </a:solidFill>
          <a:ln w="1016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551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Multi-view (frontal+lateral) scans yield 89%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3931920" cy="493776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118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14 fractures still missed — Leg (6) and Hand (5) are priority targets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3931920" cy="493776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685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Hardware in hands causes 32 false positives — dataset confound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3931920" cy="493776"/>
          </a:xfrm>
          <a:prstGeom prst="rect">
            <a:avLst/>
          </a:prstGeom>
          <a:solidFill>
            <a:srgbClr val="0F2030"/>
          </a:solidFill>
          <a:ln w="1016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Precision 46% — acceptable for screening, not standalone diagnosis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607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DIRECTIONS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353312"/>
            <a:ext cx="4023360" cy="804672"/>
          </a:xfrm>
          <a:prstGeom prst="rect">
            <a:avLst/>
          </a:prstGeom>
          <a:solidFill>
            <a:srgbClr val="0F20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53619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527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14264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Hardening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0" y="1737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targeting leg/hand. Investigate hardware mislabeling.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67712"/>
            <a:ext cx="4023360" cy="804672"/>
          </a:xfrm>
          <a:prstGeom prst="rect">
            <a:avLst/>
          </a:prstGeom>
          <a:solidFill>
            <a:srgbClr val="0F2030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450592"/>
            <a:ext cx="347472" cy="347472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3408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Visualisation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03520" y="26517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XAI: where does the model look? Are regions clinically sensible?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182112"/>
            <a:ext cx="4023360" cy="804672"/>
          </a:xfrm>
          <a:prstGeom prst="rect">
            <a:avLst/>
          </a:prstGeom>
          <a:solidFill>
            <a:srgbClr val="0F2030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364992"/>
            <a:ext cx="347472" cy="34747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355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2552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Bottleneck Prototype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03520" y="3566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3–5 clinical concepts (cortical break, displacement) and begin CBM design.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4096512"/>
            <a:ext cx="4023360" cy="804672"/>
          </a:xfrm>
          <a:prstGeom prst="rect">
            <a:avLst/>
          </a:prstGeom>
          <a:solidFill>
            <a:srgbClr val="0F203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4279392"/>
            <a:ext cx="347472" cy="3474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4270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41696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Input Required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303520" y="4480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recall further OR move to XAI? Direction decision needed.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2080</Words>
  <Application>Microsoft Office PowerPoint</Application>
  <PresentationFormat>On-screen Show (16:9)</PresentationFormat>
  <Paragraphs>242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3-4 Baseline CNN Results</dc:title>
  <dc:subject>PptxGenJS Presentation</dc:subject>
  <dc:creator>PptxGenJS</dc:creator>
  <cp:lastModifiedBy>Onur Can (Student)</cp:lastModifiedBy>
  <cp:revision>7</cp:revision>
  <dcterms:created xsi:type="dcterms:W3CDTF">2026-02-24T20:10:57Z</dcterms:created>
  <dcterms:modified xsi:type="dcterms:W3CDTF">2026-02-24T20:35:56Z</dcterms:modified>
</cp:coreProperties>
</file>