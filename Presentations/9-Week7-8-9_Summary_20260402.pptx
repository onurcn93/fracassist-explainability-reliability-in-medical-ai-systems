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830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5486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74720" y="548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Localization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Segmentation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Fracture Detection on FracAtlas  ·  Reproduction + Systematic Ablation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87452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874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Detect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200400"/>
            <a:ext cx="187452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06040" y="3200400"/>
            <a:ext cx="18745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3291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+8.9pp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3749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Paper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187452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187452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3291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3749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mAP@0.5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3200400"/>
            <a:ext cx="187452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3200400"/>
            <a:ext cx="18745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3291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Y0–Y4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20840" y="3749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46177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7–8–9  ·  March </a:t>
            </a:r>
            <a:r>
              <a:rPr lang="tr-TR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April 2,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2488033C-EB8E-1D19-B423-87EE4C86DCB3}"/>
              </a:ext>
            </a:extLst>
          </p:cNvPr>
          <p:cNvSpPr/>
          <p:nvPr/>
        </p:nvSpPr>
        <p:spPr>
          <a:xfrm>
            <a:off x="548640" y="3195828"/>
            <a:ext cx="18745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Work — Phase 1</a:t>
            </a:r>
            <a:r>
              <a:rPr lang="tr-T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ResNet 18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723323"/>
              </p:ext>
            </p:extLst>
          </p:nvPr>
        </p:nvGraphicFramePr>
        <p:xfrm>
          <a:off x="365760" y="594360"/>
          <a:ext cx="8412480" cy="285292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&amp; Literature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FracAtlas selected · 4,083 X-rays · F1 defined as primary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3–4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Baseline — ResNet-18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F1=57.7% | Recall=77.0% | Acc=79.2% | AUC=0.857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5–6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Final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E4e cosine warmup · threshold=0.425 · F1=65.81% | AUC=0.8884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5–6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GradCAM</a:t>
                      </a:r>
                      <a:r>
                        <a:rPr lang="tr-TR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SOTA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GradCAM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SOTA table 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7</a:t>
                      </a:r>
                      <a:r>
                        <a:rPr lang="tr-TR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-8-9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Phase - SOTA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localization &amp; segmentation on FracAtlas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3840480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to beat: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1330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FracAtlas paper (Abedeen et al., 2023) — YOLOv8s  ·  Detect mAP@0.5 = 56.2%  ·  Recall = 47.3%  ·  Seg Mask mAP@0.5 = 58.9%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Approach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2697480" cy="3017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804672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8046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Paper Baseline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YOLOv8s reproduction of Abedeen et al. (2023). Must match within ±2pp mAP@0.5 before any improvements.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640080"/>
            <a:ext cx="2697480" cy="3017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640080"/>
            <a:ext cx="26974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804672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0" y="8046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16002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Ablation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121408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length (Y1), </a:t>
            </a:r>
            <a:endParaRPr lang="tr-TR" sz="105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(Y2, Y3), </a:t>
            </a:r>
            <a:endParaRPr lang="tr-TR" sz="105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capacity (Y4). </a:t>
            </a:r>
            <a:endParaRPr lang="tr-TR" sz="105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mAP@0.5.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640080"/>
            <a:ext cx="2697480" cy="3017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64008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80467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8046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44768" y="16002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Framing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121408"/>
            <a:ext cx="24505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improvement framed as clinician impact. Recall = missed fractures. Each +5pp mAP = fewer missed cases.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8412480" cy="6858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457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1363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created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Explainability-Reliability-in-Medical-AI-Systems  ·  Single entry point (main.py)  ·  YAML-driven configs  ·  xai/ placeholder ready for Phase 3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Finding: Paper Reproducibility Investigation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4114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54864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 vs 574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731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069848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text states 574 fractured images. Notebook inspection reveals 635 were actually used — the difference of 61 equals exactly the FracAtlas test set size.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4114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vs 91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Instances (Seg)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081528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COCO-to-polygon conversion captured 117 validation instances vs our 91. This enriches their mAP denominator and inflates apparent performance.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658368"/>
            <a:ext cx="4114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658368"/>
            <a:ext cx="54864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74980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v8.0.49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v8.4.27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731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Version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1069848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version includes erasing=0.4, rle=1.0, and sem_loss augmentations absent in their version — altering training dynamics.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670048"/>
            <a:ext cx="4114800" cy="18288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670048"/>
            <a:ext cx="54864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761488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±2pp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Tolerance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081528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 fully closed: Y0B achieves mAP=0.547, within −1.5pp of paper (0.562). Reproduction confirmed despite discrepancies.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7000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discrepancies are documented as a methodological thesis contribution — not a failure of reproduction.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 BASELINE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Baseline Reproduction Results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50392"/>
          <a:ext cx="8412480" cy="1371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Images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574 (paper text)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Y0B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635 (paper notebook)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 (−1.5pp)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Y0C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3,940 (all negatives)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 (−0.257)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87752"/>
          <a:ext cx="8412480" cy="10972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mAP@0.5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mAP@0.5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Y0B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822192"/>
            <a:ext cx="841248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3822192"/>
            <a:ext cx="45720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48640" y="38587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Y0B within −1.5pp of paper → reproduction CONFIRMED. Y0B becomes the controlled baseline.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48640" y="410565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Y0C (6:1 neg ratio) drops mAP by −25.7pp → negative flood hypothesis confirmed. Skipped for seg.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48640" y="435254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Recall in both Y0A &amp; Y0B exceeds paper (0.505/0.548 vs 0.499) — augmentation pipeline advantage.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" y="45994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Y0 curves still descending at epoch 30 → primary motivation for Y1 extended training.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 CURVES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Y0 Runs Terminate Mid-Descent at Epoch 30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2788920" cy="26060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58368"/>
            <a:ext cx="2697480" cy="1965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2651760"/>
            <a:ext cx="27889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Y0A — 574 imgs, SGD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566928"/>
            <a:ext cx="2788920" cy="26060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658368"/>
            <a:ext cx="2697480" cy="1965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54680" y="2651760"/>
            <a:ext cx="2788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15468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Y0B — 635 imgs, AdamW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566928"/>
            <a:ext cx="2788920" cy="26060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658368"/>
            <a:ext cx="2697480" cy="19659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035040" y="2651760"/>
            <a:ext cx="27889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03504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Y0C — 3,940 imgs (neg flood)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74320" y="3337560"/>
            <a:ext cx="8595360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274320" y="3337560"/>
            <a:ext cx="4572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3675888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Y0 runs are visibly descending at epoch 30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loss has not converged, validation metrics are still rising. Y0B reaches mAP=0.547 but the curve shows headroom. Y0C's validation metrics collapse despite a decreasing training loss — the 6:1 negative flood overwhelms the fracture signal. This is the direct empirical motivation for Y1: extended training with permissive patience.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Training — Two-Way Design (Y1A vs Y1B)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4114800" cy="2331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132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epochs=100, patience=10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0934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at epoch 62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epoch: 52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= 0.508 (−5.4pp vs paper)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3200400" cy="256032"/>
          </a:xfrm>
          <a:prstGeom prst="rect">
            <a:avLst/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TOO AGGRESSIVE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594360"/>
            <a:ext cx="4114800" cy="2331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594360"/>
            <a:ext cx="41148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7132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0060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epochs=200, patience=50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60934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run: 200 epochs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epoch: 170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= 0.651 (+8.9pp vs paper)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606040"/>
            <a:ext cx="3200400" cy="256032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2606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035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Y1 Results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28435"/>
              </p:ext>
            </p:extLst>
          </p:nvPr>
        </p:nvGraphicFramePr>
        <p:xfrm>
          <a:off x="365760" y="3291840"/>
          <a:ext cx="8412480" cy="1371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mAP@0.5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mAP@0.5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Paper (mask)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−8.2pp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−7.1pp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Y1B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tr-TR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tr-TR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−4.3pp*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Gap attributable to paper's 117 vs our 91 val instances + test leakage — not a model deficiency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DETECT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Detection — Best Model Training Curve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94360"/>
            <a:ext cx="841248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3310128"/>
            <a:ext cx="1828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Rapid gain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1–50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840480" y="3310128"/>
            <a:ext cx="1828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40480" y="3310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Steady improvement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50–170 (LR decay)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858000" y="3310128"/>
            <a:ext cx="1828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0" y="3310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Plateau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170–200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6576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3886200"/>
            <a:ext cx="16002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6576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5740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057400" y="3886200"/>
            <a:ext cx="1600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05740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05740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74904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749040" y="3886200"/>
            <a:ext cx="1600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74904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74904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4068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40680" y="3886200"/>
            <a:ext cx="1600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4068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/ 200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544068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3232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132320" y="3886200"/>
            <a:ext cx="16002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13232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+8.9pp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713232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Paper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16</a:t>
            </a:r>
            <a:endParaRPr lang="en-US" sz="8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9CE3795-E29D-365A-19D7-D53875203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180" y="119786"/>
            <a:ext cx="2316480" cy="5456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DETECT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Detection — PR Curve &amp; Error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50392"/>
            <a:ext cx="502920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7840" y="5943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CONFUSION MATRIX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850392"/>
            <a:ext cx="3337560" cy="3337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279392"/>
            <a:ext cx="5029200" cy="548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65760" y="4279392"/>
            <a:ext cx="4572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2920" y="4297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0.6</a:t>
            </a:r>
            <a:r>
              <a:rPr lang="tr-TR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maintains high precision (&gt;90%) at low recall, degrading gracefully as threshold drops. Wide flat region between recall 0.1–0.6 indicates stable operating zone for clinical deployment.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577840" y="4279392"/>
            <a:ext cx="3337560" cy="548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577840" y="4279392"/>
            <a:ext cx="457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715000" y="4297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TP  ·  37% missed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clinically: 1 in 3 fractures gets no bounding box. Zero false positives on background images.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16</a:t>
            </a:r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DC914D-78ED-6312-B55C-FF80B061C9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9187" y="969264"/>
            <a:ext cx="2165773" cy="510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DETECT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Detection — Qualitative Validation Results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50392"/>
            <a:ext cx="4251960" cy="393192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50392"/>
            <a:ext cx="4251960" cy="3931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44568" y="594360"/>
            <a:ext cx="0" cy="425196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coverage: hand · wrist · forearm · leg · shoulder · hip  ·  Confidence scores shown on predictions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SEG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Segmentation — Training Curve (179 Epochs)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94360"/>
            <a:ext cx="841248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438144"/>
            <a:ext cx="3657600" cy="365760"/>
          </a:xfrm>
          <a:prstGeom prst="rect">
            <a:avLst/>
          </a:prstGeom>
          <a:solidFill>
            <a:srgbClr val="1A2F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34564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val/seg_loss spike at epoch 1 — known Ultralytics artefact, not a training failure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3886200"/>
            <a:ext cx="1600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60.8%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6576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mAP@0.5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5740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57400" y="3886200"/>
            <a:ext cx="1600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05740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05740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mAP@0.5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74904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749040" y="3886200"/>
            <a:ext cx="1600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74904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51.6%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374904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Recall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4068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440680" y="3886200"/>
            <a:ext cx="1600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4068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/ 179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44068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32320" y="3886200"/>
            <a:ext cx="1600200" cy="9601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32320" y="3886200"/>
            <a:ext cx="1600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32320" y="3977640"/>
            <a:ext cx="16002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−4.3pp*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132320" y="4462272"/>
            <a:ext cx="16002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Paper (mask)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65760" y="487375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Remaining gap attributable to paper's richer annotation coverage (117 vs 91 val instances), not model deficiency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16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823EF29-6558-2C32-33C6-4E01146DA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238" y="393192"/>
            <a:ext cx="2192363" cy="5164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SEG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Segmentation — Qualitative Validation Results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+ MASKS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50392"/>
            <a:ext cx="4251960" cy="37947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50392"/>
            <a:ext cx="4251960" cy="3794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44568" y="594360"/>
            <a:ext cx="0" cy="411480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47000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masks go beyond bounding boxes — traces the fracture line, anchoring future XAI explanations (Pillar 1: cortical break attributes)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Y2/Y3/Y4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&amp; Capacity Ablations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94360"/>
          <a:ext cx="8412480" cy="18409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mAP@0.5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 Mask mAP@0.5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Y1B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Y1B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(600px, YOLOv8s)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imgsz = 640px (COCO native)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−4.4pp / −5.7pp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imgsz = 800px (high-res hypothesis)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−5.0pp / −4.6pp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YOLOv8m (25.8M params)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(skipped)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395728"/>
            <a:ext cx="2697480" cy="2331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2395728"/>
            <a:ext cx="26974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2468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Y2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75488" y="292608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Alignment Hypothesis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5488" y="3401568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Rejected. 640px (COCO native resolution) is definitively worse than 600px on both detection (−4.4pp) and segmentation (−5.7pp). Pre-training alignment was not the bottleneck.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2395728"/>
            <a:ext cx="2697480" cy="2331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2395728"/>
            <a:ext cx="26974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1"/>
          <p:cNvSpPr/>
          <p:nvPr/>
        </p:nvSpPr>
        <p:spPr>
          <a:xfrm>
            <a:off x="3200400" y="2468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Y3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10128" y="292608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Detail Hypothesis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10128" y="3401568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Rejected. 800px produces marginally better seg than 640px (0.500 vs 0.489) but both are clearly inferior to 600px. Fractures encode as density changes, not high-frequency edges.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2395728"/>
            <a:ext cx="2697480" cy="2331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35040" y="2395728"/>
            <a:ext cx="26974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35040" y="2468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Y4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144768" y="292608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Capacity Hypothesis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44768" y="3401568"/>
            <a:ext cx="2487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Rejected. YOLOv8m (2.3× parameters) underperforms YOLOv8s by 3.8pp. At 635 training images, the larger model overfits — COCO pre-training cannot compensate.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Clean Thesis Findings from Phase 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8412480" cy="13258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54864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932688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32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7132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Training Wins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10332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epochs + patience=50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1280160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(best epoch 170) gains +10.4pp over Y0B and +8.9pp over the paper. The LR decay schedule is critical — the model needs epochs 100–170 for steady convergence. Patience=10 (Y1A) quit 108 epochs before the actual optimum.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1874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10515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+10.4pp mAP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8412480" cy="13258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057400"/>
            <a:ext cx="54864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35000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350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1305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600px is Optimal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45059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degradation at higher resolution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2697480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decreases at 640px (−4.4pp) and 800px (−5.0pp) for detection, and identically for segmentation. FracAtlas X-rays encode fractures as low-contrast density changes — additional grey letterbox padding adds noise at higher resolutions with only 635 training images.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468880"/>
            <a:ext cx="1874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2468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r>
              <a:rPr lang="tr-TR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640</a:t>
            </a:r>
            <a:r>
              <a:rPr lang="tr-TR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800px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8412480" cy="13258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376732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767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35478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Beats YOLOv8m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38679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 defeats capacity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25880" y="4114800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medium model (25.8M params, 2.3× small) underperforms by 3.8pp on detection despite stronger COCO pre-training. At 635 training images the larger model overfits — the data budget is the bottleneck, not model capacity.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3886200"/>
            <a:ext cx="1874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0" y="3886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−3.8pp (larger model)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Boundaries — Not Weaknesses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21792"/>
            <a:ext cx="4114800" cy="1874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54864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758952"/>
            <a:ext cx="777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75895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7132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Validation Surface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904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images, 91 annotated instances. CUDA non-determinism alone introduces ±2–3pp run-to-run variance. Comparisons within 2–3pp should be treated as within noise, not real differences.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4114800" cy="1874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54864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770632"/>
            <a:ext cx="777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7063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7249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Val Split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021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cross-validation performed. Official FracAtlas CSV split is fixed for benchmark comparability. A different seed/split could shift results ±several pp.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621792"/>
            <a:ext cx="4114800" cy="1874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621792"/>
            <a:ext cx="54864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758952"/>
            <a:ext cx="777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75895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71323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Ceiling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4904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Y1B learning curve plateaued at epoch 170. The model has extracted available signal from 635 images. Further gains require more data — not longer training or architectural scaling.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633472"/>
            <a:ext cx="4114800" cy="1874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54864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770632"/>
            <a:ext cx="7772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770632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72491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Paper Gap (−4.3pp)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5021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mask mAP (0.589) not fully reproduced. Our best: 0.546. Three documented factors: (a) 34 extra seg train images in paper, (b) 117 vs 91 val instances, (c) different Ultralytics version.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limitations are fully documented. Gaps are explained by methodology, not undisclosed — this is a thesis contribution.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Explainability-Reliability-in-Medical-AI-Systems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269748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594360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69494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042416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routes all experiments via --config + --task flags. --debug flag overrides epochs=1 for instant pipeline validation.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594360"/>
            <a:ext cx="269748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594360"/>
            <a:ext cx="26974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69494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Per Config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042416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YAML changes exactly one hyperparameter from baseline. The ablation logic is readable from the config alone — no code tracing needed.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594360"/>
            <a:ext cx="269748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59436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69494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Phase-Agnostic Utilities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1042416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logger.py and plot.py are fully independent of phase/model. Phase 3 XAI experiments reuse them without modification.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4114800" cy="26517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STRUCTURE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6060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        # single entry point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2788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         # one YAML per experiment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971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yolo_Y0.yaml → yolo_Y4.yaml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1546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3375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prepare_yolo.py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dataset_yolo_Y0A/B/C/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7033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models/yolo/     # train.py + evaluate.py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38862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results/logs/    # one .log per run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0690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results/plots/   # one .png per run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251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weights/         # Y1B_detect_best.pt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# Y1B_seg_best.pt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6177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xai/             # Phase 3 placeholder ←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2240280"/>
            <a:ext cx="4160520" cy="2651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2240280"/>
            <a:ext cx="54864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304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45152" y="2624328"/>
            <a:ext cx="966893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2633472"/>
            <a:ext cx="1104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tr-TR" sz="800" b="1" dirty="0">
              <a:solidFill>
                <a:srgbClr val="0D94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15000" y="26517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· 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Prediction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elastic deformation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Albumentations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· 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AUGMIX – Grayscale Transform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090672"/>
            <a:ext cx="777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09067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77840" y="31089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ResNet-18, YOLOv8 Seg &amp; Local, YOLOv11</a:t>
            </a:r>
            <a:r>
              <a:rPr lang="tr-TR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DenseNet-121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547872"/>
            <a:ext cx="777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354787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77840" y="35661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— zero training cost, +1–3pp mAP expected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4005072"/>
            <a:ext cx="777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400507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IQA Signal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77840" y="40233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Assessment as reliability flag for low-quality X-ray inputs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4462272"/>
            <a:ext cx="7772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09160" y="446227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Phase 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77840" y="44805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supervisor approval — CBM · Prototype networks · Counterfactuals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Feature Importance, GRADCAM, Box - Mask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Explainability &amp; Reliability in Medical AI  |  April 2026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0" y="48920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2167</Words>
  <Application>Microsoft Office PowerPoint</Application>
  <PresentationFormat>On-screen Show (16:9)</PresentationFormat>
  <Paragraphs>369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7-8-9 | Phase 2: YOLOv8 Localization &amp; Segmentation</dc:title>
  <dc:subject>PptxGenJS Presentation</dc:subject>
  <dc:creator>MSc Thesis — Medical AI</dc:creator>
  <cp:lastModifiedBy>Onur Can</cp:lastModifiedBy>
  <cp:revision>12</cp:revision>
  <dcterms:created xsi:type="dcterms:W3CDTF">2026-04-02T13:11:58Z</dcterms:created>
  <dcterms:modified xsi:type="dcterms:W3CDTF">2026-04-02T14:58:48Z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5a0de8-b827-4bc9-a670-fb2527f18a84_Enabled">
    <vt:lpwstr>true</vt:lpwstr>
  </property>
  <property fmtid="{D5CDD505-2E9C-101B-9397-08002B2CF9AE}" pid="3" name="MSIP_Label_7d5a0de8-b827-4bc9-a670-fb2527f18a84_SetDate">
    <vt:lpwstr>2026-04-02T13:34:14Z</vt:lpwstr>
  </property>
  <property fmtid="{D5CDD505-2E9C-101B-9397-08002B2CF9AE}" pid="4" name="MSIP_Label_7d5a0de8-b827-4bc9-a670-fb2527f18a84_Method">
    <vt:lpwstr>Privileged</vt:lpwstr>
  </property>
  <property fmtid="{D5CDD505-2E9C-101B-9397-08002B2CF9AE}" pid="5" name="MSIP_Label_7d5a0de8-b827-4bc9-a670-fb2527f18a84_Name">
    <vt:lpwstr>Kamuya Açık</vt:lpwstr>
  </property>
  <property fmtid="{D5CDD505-2E9C-101B-9397-08002B2CF9AE}" pid="6" name="MSIP_Label_7d5a0de8-b827-4bc9-a670-fb2527f18a84_SiteId">
    <vt:lpwstr>8d43ffbc-a57a-4d9e-8505-d5f18d7eac9b</vt:lpwstr>
  </property>
  <property fmtid="{D5CDD505-2E9C-101B-9397-08002B2CF9AE}" pid="7" name="MSIP_Label_7d5a0de8-b827-4bc9-a670-fb2527f18a84_ActionId">
    <vt:lpwstr>01dc1d40-e35e-4c0d-905f-6c711cb76430</vt:lpwstr>
  </property>
  <property fmtid="{D5CDD505-2E9C-101B-9397-08002B2CF9AE}" pid="8" name="MSIP_Label_7d5a0de8-b827-4bc9-a670-fb2527f18a84_ContentBits">
    <vt:lpwstr>0</vt:lpwstr>
  </property>
  <property fmtid="{D5CDD505-2E9C-101B-9397-08002B2CF9AE}" pid="9" name="MSIP_Label_7d5a0de8-b827-4bc9-a670-fb2527f18a84_Tag">
    <vt:lpwstr>10, 0, 1, 1</vt:lpwstr>
  </property>
</Properties>
</file>