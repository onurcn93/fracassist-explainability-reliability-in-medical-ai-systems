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6" r:id="rId18"/>
    <p:sldId id="272" r:id="rId19"/>
    <p:sldId id="273" r:id="rId20"/>
    <p:sldId id="274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830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E4F5E-7DED-0E1F-F440-8BBCD1A37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FFCF6B-9BCD-BF7B-717A-522427DA1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7A8DE-6902-AA94-84B2-0D1C94868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22D0C-9205-D5AB-6515-D4AEFD3166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6308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FB3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5–6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Baseline_v2</a:t>
            </a: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CNN Model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Bone Fracture Detection</a:t>
            </a:r>
            <a:r>
              <a:rPr lang="tr-TR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&amp; SOTAs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· FracAtlas · Explainability · SOTA Comparison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64267"/>
            <a:ext cx="1920240" cy="118872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309987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r>
              <a:rPr lang="tr-TR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r>
              <a:rPr lang="tr-TR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1%</a:t>
            </a:r>
            <a:endParaRPr lang="tr-TR" sz="2800" b="1" dirty="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968355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3264267"/>
            <a:ext cx="1920240" cy="11887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6040" y="3309987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r>
              <a:rPr lang="tr-TR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.75%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3968355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3264267"/>
            <a:ext cx="1920240" cy="1188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3309987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r>
              <a:rPr lang="tr-TR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.66%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3968355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3264267"/>
            <a:ext cx="1920240" cy="118872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03720" y="3309987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r>
              <a:rPr lang="tr-TR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03720" y="3968355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March 2026</a:t>
            </a:r>
            <a:endParaRPr lang="en-US" sz="80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CCF5677A-B034-A6C9-D6FB-FF3BCB951CF6}"/>
              </a:ext>
            </a:extLst>
          </p:cNvPr>
          <p:cNvSpPr/>
          <p:nvPr/>
        </p:nvSpPr>
        <p:spPr>
          <a:xfrm>
            <a:off x="457200" y="450160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W3-4 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Baseline (Test): Acc 79.2%  |  Recall 77.0%  |  Precision 46.1%  |  F1 57.7%  |  AUC 0.857  → Overfitting gap 0.27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Previous Work Recap — Weeks 1–4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3949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Foundation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Week 5–6  |  March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960120"/>
            <a:ext cx="27432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9784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 1–2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1188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Literature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1481328"/>
            <a:ext cx="2560320" cy="3200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FracAtlas (4,083 X-rays, 717 fractured)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4.69:1 (Non-frac dominant)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SOTA: YOLOv8, InceptionV3+BAM, EfficientNet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primary metric: F1 on Fractured class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27832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27832" y="960120"/>
            <a:ext cx="27432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27832" y="9784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 3–4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27832" y="1188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Baseline Model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9272" y="1481328"/>
            <a:ext cx="2560320" cy="3200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full fine-tune, CE loss × class weight 4.69:1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0.5 (default)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F1=57.7% | Recall=77% | Acc=79.2% | AUC=0.857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High recall but low precision → poor F1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9632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99632" y="960120"/>
            <a:ext cx="2743200" cy="43891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99632" y="9784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 4 Feedback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9632" y="1188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Directives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91072" y="1481328"/>
            <a:ext cx="2560320" cy="3200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F1 (not recall alone)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overfitting gap (Train=0.08 vs Val=0.35)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weight rebalancing, dropout, LR scheduling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GradCAM as first XAI check</a:t>
            </a:r>
            <a:endParaRPr lang="tr-TR" sz="1100" dirty="0">
              <a:solidFill>
                <a:srgbClr val="1A252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tr-TR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Checks based on FracAtlas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4553712"/>
            <a:ext cx="8631936" cy="338328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56285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Baseline (Test): </a:t>
            </a: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79.2%  |  Recall 77.0%  |  Precision 46.1%  |  F1 57.7%  |  AUC 0.857  → Overfitting gap 0.27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5–6 Objectives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Week 5–6  |  March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" y="10058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005840"/>
            <a:ext cx="64008" cy="17373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078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8F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353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 F1 Score</a:t>
            </a:r>
            <a:r>
              <a:rPr lang="tr-TR" sz="1200" b="1" dirty="0">
                <a:solidFill>
                  <a:srgbClr val="1A25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&amp; TTA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627632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E3 baseline of F1=57.7% through systematic experimentation. F1 was designated primary metric by supervisor — balancing precision and recall on imbalanced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82112" y="10058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82112" y="1005840"/>
            <a:ext cx="64008" cy="1737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1078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91840" y="1353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 Overfitting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1627632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train/val loss gap of 0.27 (E3). Target gap &lt;0.15 through dropout regularisation and better LR scheduling.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08192" y="10058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08192" y="1005840"/>
            <a:ext cx="64008" cy="1737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078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17920" y="1353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25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</a:t>
            </a:r>
            <a:r>
              <a:rPr lang="tr-TR" sz="1200" b="1" dirty="0">
                <a:solidFill>
                  <a:srgbClr val="1A25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</a:t>
            </a:r>
            <a:r>
              <a:rPr lang="en-US" sz="1200" b="1" dirty="0">
                <a:solidFill>
                  <a:srgbClr val="1A25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Threshold</a:t>
            </a:r>
            <a:r>
              <a:rPr lang="tr-TR" sz="1200" b="1" dirty="0">
                <a:solidFill>
                  <a:srgbClr val="1A25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Knob + TTA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1627632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threshold of 0.5 is suboptimal on imbalanced data. Sweep thresholds on validation set to find the F1-maximising operating point</a:t>
            </a:r>
            <a:r>
              <a:rPr lang="tr-TR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Test Time Augmentations Trials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2926080"/>
            <a:ext cx="64008" cy="173736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29992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7A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5760" y="3273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 LR Scheduling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3547872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cosine annealing with warmup to stabilise training vs ReduceLROnPlateau. Warmup prevents early high-LR instability.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82112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182112" y="2926080"/>
            <a:ext cx="64008" cy="17373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91840" y="29992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34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291840" y="3273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Focal Loss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91840" y="3547872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 et al. (2017) focal loss dynamically downweights easy negatives. Hypothesis: better minority class focus vs fixed class weights.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08192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08192" y="2926080"/>
            <a:ext cx="64008" cy="1737360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17920" y="29992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84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17920" y="3273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XAI: GradCAM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17920" y="3547872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Gradient-weighted Class Activation Maps to verify the model attends to bone regions, not background artefacts. Gate: F1 ≥ 0.60.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91440" cy="109728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 Results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E4a → E4i → E4e → E4h → E4g2 → Final Test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Week 5–6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E4a — Class Weight Tuning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3949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penalty balance for imbalanced classes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Week 5–6  |  March 2026</a:t>
            </a:r>
            <a:endParaRPr lang="en-US" sz="800" dirty="0"/>
          </a:p>
        </p:txBody>
      </p:sp>
      <p:pic>
        <p:nvPicPr>
          <p:cNvPr id="7" name="Image 0" descr="/home/claude/E4a_weight_m050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0"/>
            <a:ext cx="4389120" cy="2011680"/>
          </a:xfrm>
          <a:prstGeom prst="rect">
            <a:avLst/>
          </a:prstGeom>
        </p:spPr>
      </p:pic>
      <p:pic>
        <p:nvPicPr>
          <p:cNvPr id="8" name="Image 1" descr="/home/claude/E4a_weight_m075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914400"/>
            <a:ext cx="4389120" cy="2011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" y="2907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0.50  (ratio 2.39:1)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617720" y="2907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0.75  (ratio 3.38:1)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37160" y="3127248"/>
            <a:ext cx="4389120" cy="1600200"/>
          </a:xfrm>
          <a:prstGeom prst="rect">
            <a:avLst/>
          </a:prstGeom>
          <a:solidFill>
            <a:srgbClr val="D5F5E3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228600" y="3200400"/>
            <a:ext cx="4206240" cy="1463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14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m=0.50 → Val F1=0.6</a:t>
            </a:r>
            <a:r>
              <a:rPr lang="tr-TR" sz="14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r>
              <a:rPr lang="en-US" sz="14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(best)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stable above 0.88 throughout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 plateau ~0.34, manageable gap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precision/recall balance by ep.13+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17720" y="3127248"/>
            <a:ext cx="4389120" cy="1600200"/>
          </a:xfrm>
          <a:prstGeom prst="rect">
            <a:avLst/>
          </a:prstGeom>
          <a:solidFill>
            <a:srgbClr val="FDEBD0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709160" y="3200400"/>
            <a:ext cx="4206240" cy="1463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m=0.75 → Val F1=0.58, lower ceiling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recall but precision collapses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 more volatile (spike ep.12)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penalty over-corrects minority class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137160" y="4661118"/>
            <a:ext cx="8869680" cy="2286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28600" y="4654296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m=0.50 selected as best weight multiplier → BEST_WEIGHT_MULT=0.50, BEST_THRESH=0.43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E4i — Dropout Regularisation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3949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the overfitting gap (Train/Val loss delta ~0.27 in E3)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Week 5–6  |  March 2026</a:t>
            </a:r>
            <a:endParaRPr lang="en-US" sz="800" dirty="0"/>
          </a:p>
        </p:txBody>
      </p:sp>
      <p:pic>
        <p:nvPicPr>
          <p:cNvPr id="7" name="Image 0" descr="/home/claude/E4i_dropout03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0"/>
            <a:ext cx="4389120" cy="2011680"/>
          </a:xfrm>
          <a:prstGeom prst="rect">
            <a:avLst/>
          </a:prstGeom>
        </p:spPr>
      </p:pic>
      <p:pic>
        <p:nvPicPr>
          <p:cNvPr id="8" name="Image 1" descr="/home/claude/E4i_dropout05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914400"/>
            <a:ext cx="4389120" cy="2011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" y="2907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= 0.3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617720" y="2907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= 0.5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37160" y="3127248"/>
            <a:ext cx="4389120" cy="1600200"/>
          </a:xfrm>
          <a:prstGeom prst="rect">
            <a:avLst/>
          </a:prstGeom>
          <a:solidFill>
            <a:srgbClr val="D5F5E3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228600" y="3200400"/>
            <a:ext cx="4206240" cy="1463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Winner: Dropout 0.3 → Val F1=0.632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gap: 0.27 → 0.147 ✅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 curves visibly tighter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and AUC stable, metrics converging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617720" y="3127248"/>
            <a:ext cx="4389120" cy="1600200"/>
          </a:xfrm>
          <a:prstGeom prst="rect">
            <a:avLst/>
          </a:prstGeom>
          <a:solidFill>
            <a:srgbClr val="FDEBD0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709160" y="3200400"/>
            <a:ext cx="4206240" cy="1463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</a:t>
            </a:r>
            <a:r>
              <a:rPr lang="en-US" sz="14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0.5 → Val F1=0.609 (worse)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more erratic, noisy medical panel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dropout hurts minority class learning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similar — regularisation too aggressive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137160" y="4727448"/>
            <a:ext cx="8869680" cy="2286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28600" y="4736592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Dropout 0.3 selected → BEST_DROPOUT=0.3 | Overfitting target (&lt;0.15) nearly achieved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E4e — Cosine Annealing with Warmup  ★ Champion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3949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the learning rate to stabilise late-stage training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Week 5–6  |  March 2026</a:t>
            </a:r>
            <a:endParaRPr lang="en-US" sz="800" dirty="0"/>
          </a:p>
        </p:txBody>
      </p:sp>
      <p:pic>
        <p:nvPicPr>
          <p:cNvPr id="7" name="Image 0" descr="/home/claude/E4e_cosine_warmup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0"/>
            <a:ext cx="5669280" cy="2331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0" y="914400"/>
            <a:ext cx="3063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89320" y="9601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Cosine Warmup?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89320" y="1261872"/>
            <a:ext cx="2971800" cy="1920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phase (ep 1–3): </a:t>
            </a: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rises slowly to avoid chaotic early updates
</a:t>
            </a:r>
            <a:r>
              <a:rPr lang="en-US" sz="10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decay (ep 4–30): </a:t>
            </a: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falls smoothly following cosine curve
</a:t>
            </a:r>
            <a:r>
              <a:rPr lang="en-US" sz="10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</a:t>
            </a: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sharp LR drops that cause model to get stuck in local minima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7160" y="3337560"/>
            <a:ext cx="8869680" cy="1143000"/>
          </a:xfrm>
          <a:prstGeom prst="rect">
            <a:avLst/>
          </a:prstGeom>
          <a:solidFill>
            <a:srgbClr val="D5F5E3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28600" y="3401568"/>
            <a:ext cx="868680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Smoothest training curves of all experiments — val loss most stable (~0.33 plateau)</a:t>
            </a:r>
            <a:endParaRPr lang="en-US" sz="11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F1=0.636 </a:t>
            </a: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threshold 0.425 | 30 epochs vs 20 for others (convergence needed more time)</a:t>
            </a:r>
            <a:endParaRPr lang="en-US" sz="14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stable at 0.875+ from epoch 15 onwards — model's ranking ability strongest here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37160" y="4498848"/>
            <a:ext cx="886968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28600" y="45262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CHAMPION: E4e_cosine_warmup selected | Val F1=0.636 | Threshold=0.425 | No TTA (TTA hurt F1 by 0.017)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E4h — Focal Loss (γ=1 and γ=2)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3949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result — and why it matters for thesis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Week 5–6  |  March 2026</a:t>
            </a:r>
            <a:endParaRPr lang="en-US" sz="800" dirty="0"/>
          </a:p>
        </p:txBody>
      </p:sp>
      <p:pic>
        <p:nvPicPr>
          <p:cNvPr id="7" name="Image 0" descr="/home/claude/E4h_focal_gamma1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0"/>
            <a:ext cx="4389120" cy="2011680"/>
          </a:xfrm>
          <a:prstGeom prst="rect">
            <a:avLst/>
          </a:prstGeom>
        </p:spPr>
      </p:pic>
      <p:pic>
        <p:nvPicPr>
          <p:cNvPr id="8" name="Image 1" descr="/home/claude/E4h_focal_gamma2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914400"/>
            <a:ext cx="4389120" cy="2011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" y="2907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γ=1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617720" y="2907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γ=2  (original paper default)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37160" y="3127248"/>
            <a:ext cx="4160520" cy="1627632"/>
          </a:xfrm>
          <a:prstGeom prst="rect">
            <a:avLst/>
          </a:prstGeom>
          <a:solidFill>
            <a:srgbClr val="FDEBD0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228600" y="3200400"/>
            <a:ext cx="3977640" cy="1463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γ=1: Val F1=0.595 — below champion (0.636)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Loss scale ~0.15–0.28 vs CE ~0.33 — not comparable directly</a:t>
            </a:r>
            <a:endParaRPr lang="en-US" sz="12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F1 plateau earlier, precision converges slowly</a:t>
            </a:r>
            <a:endParaRPr lang="en-US" sz="12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AUC 0.866 — lower than cosine warmup (0.875)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17720" y="3127248"/>
            <a:ext cx="4343400" cy="1627632"/>
          </a:xfrm>
          <a:prstGeom prst="rect">
            <a:avLst/>
          </a:prstGeom>
          <a:solidFill>
            <a:srgbClr val="FDEBD0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709160" y="3200400"/>
            <a:ext cx="4160520" cy="1463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γ=2: Val F1=0.60 — recall crashes at epoch 5</a:t>
            </a:r>
            <a:endParaRPr lang="en-US" sz="105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Strong focus on hard negatives overshoots on small dataset</a:t>
            </a:r>
            <a:endParaRPr lang="en-US" sz="12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Loss scale 0.09–0.22 — very different scale, unstable early</a:t>
            </a:r>
            <a:endParaRPr lang="en-US" sz="12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Gradients too concentrated on minority class boundary cases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37160" y="4727448"/>
            <a:ext cx="8869680" cy="274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28600" y="4736592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value: Negative results are valid findings — Focal Loss is not universally better for small imbalanced medical datasets where class weights already rebalance effectively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E4g2 — Threshold Sweep on Champion + TTA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3949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optimal decision boundary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Week 5–6  |  March 2026</a:t>
            </a:r>
            <a:endParaRPr lang="en-US" sz="800" dirty="0"/>
          </a:p>
        </p:txBody>
      </p:sp>
      <p:pic>
        <p:nvPicPr>
          <p:cNvPr id="7" name="Image 0" descr="/home/claude/E4g2_E4e_cosine_warmup_threshold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0"/>
            <a:ext cx="594360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0" y="914400"/>
            <a:ext cx="2788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63640" y="9601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91072" y="1280160"/>
            <a:ext cx="2651760" cy="2487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t=0.5 gives F1=0.608 — suboptimal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threshold t=0.425 gives F1=0.636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+2.8 F1 pts from threshold tuning alone — 'free win'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curve shows good AUC area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curve drops steeply after Recall=0.40 — our operating point well-placed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1A252F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TTA tested: F1 dropped 0.636→0.619 → SKIP TTA</a:t>
            </a:r>
            <a:endParaRPr lang="en-US" sz="1000" b="1" dirty="0">
              <a:highlight>
                <a:srgbClr val="FFFF00"/>
              </a:highlight>
            </a:endParaRPr>
          </a:p>
        </p:txBody>
      </p:sp>
      <p:sp>
        <p:nvSpPr>
          <p:cNvPr id="11" name="Shape 8"/>
          <p:cNvSpPr/>
          <p:nvPr/>
        </p:nvSpPr>
        <p:spPr>
          <a:xfrm>
            <a:off x="137160" y="3931920"/>
            <a:ext cx="8869680" cy="68580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320" y="3959352"/>
            <a:ext cx="859536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settings locked: </a:t>
            </a: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0.425  |  TTA = OFF  |  Champion = E4e_cosine_warmup
</a:t>
            </a: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F1=0.636 | Val Recall=0.598 | Val Precision=0.681 | Val AUC=0.875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Test Set Evaluation — One-Time Result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3949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Champion: E4e_cosine_warmup | Threshold: 0.425 | No TTA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Week 5–6  |  March 2026</a:t>
            </a:r>
            <a:endParaRPr lang="en-US" sz="800" dirty="0"/>
          </a:p>
        </p:txBody>
      </p:sp>
      <p:pic>
        <p:nvPicPr>
          <p:cNvPr id="7" name="Image 0" descr="/home/claude/FINAL_E4e_cosine_warmup_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0"/>
            <a:ext cx="2926080" cy="3108960"/>
          </a:xfrm>
          <a:prstGeom prst="rect">
            <a:avLst/>
          </a:prstGeom>
        </p:spPr>
      </p:pic>
      <p:pic>
        <p:nvPicPr>
          <p:cNvPr id="8" name="Image 1" descr="/home/claude/FINAL_E4e_cosine_warmup_predic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914400"/>
            <a:ext cx="3931920" cy="31089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223760" y="914400"/>
            <a:ext cx="1783080" cy="3108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223760" y="960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8F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8F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223760" y="14447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86.75%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223760" y="17373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223760" y="195681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ED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60.66%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223760" y="224942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223760" y="24688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ED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64.91%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223760" y="276148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223760" y="298094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0EE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62.71%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223760" y="327355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223760" y="34930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ED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86.14%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7223760" y="378561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137160" y="4114800"/>
            <a:ext cx="8869680" cy="713232"/>
          </a:xfrm>
          <a:prstGeom prst="rect">
            <a:avLst/>
          </a:prstGeom>
          <a:solidFill>
            <a:srgbClr val="D5F5E3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256032" y="4160520"/>
            <a:ext cx="859536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25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E3 Baseline: </a:t>
            </a: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+7.5pp  |  Precision +18.8pp  |  F1 +5.01pp  |  AUC +0.4pp</a:t>
            </a: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↓ 77%→61% — intentional: supervisor directed F1 optimisation, not recall maximisation. AUC improved → ranking ability is better.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E4f — GradCAM: First XAI Check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3949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 look at the right places?  Gate: F1 ≥ 0.60 ✅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Week 5–6  |  March 2026</a:t>
            </a:r>
            <a:endParaRPr lang="en-US" sz="800" dirty="0"/>
          </a:p>
        </p:txBody>
      </p:sp>
      <p:pic>
        <p:nvPicPr>
          <p:cNvPr id="7" name="Image 0" descr="/home/claude/gradcam_T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914400"/>
            <a:ext cx="8924544" cy="1207008"/>
          </a:xfrm>
          <a:prstGeom prst="rect">
            <a:avLst/>
          </a:prstGeom>
        </p:spPr>
      </p:pic>
      <p:pic>
        <p:nvPicPr>
          <p:cNvPr id="8" name="Image 1" descr="/home/claude/gradcam_F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176272"/>
            <a:ext cx="8924544" cy="1207008"/>
          </a:xfrm>
          <a:prstGeom prst="rect">
            <a:avLst/>
          </a:prstGeom>
        </p:spPr>
      </p:pic>
      <p:pic>
        <p:nvPicPr>
          <p:cNvPr id="9" name="Image 2" descr="/home/claude/gradcam_F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" y="3401568"/>
            <a:ext cx="8924544" cy="120700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9728" y="4626864"/>
            <a:ext cx="8924544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201168" y="4645152"/>
            <a:ext cx="8741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TP: Heatmaps focus on joint/bone regions ✅  |  FN: Diffuse/off-target attention — subtle fractures missed  |  FP: Model confuses complex joint anatomy with fracture patterns → XAI motivation for next phase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91440" cy="109728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 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Pros, Cons &amp; Commentary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Week 5–6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Experiments — Results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3949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metrics (except E3 &amp; Final = Test set)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Week 5–6  |  March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69848" y="1261872"/>
            <a:ext cx="14173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69848" y="12618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87168" y="1261872"/>
            <a:ext cx="384048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87168" y="126187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71216" y="1261872"/>
            <a:ext cx="658368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71216" y="126187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29584" y="1261872"/>
            <a:ext cx="384048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29584" y="126187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13632" y="1261872"/>
            <a:ext cx="658368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13632" y="126187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0" y="1261872"/>
            <a:ext cx="475488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126187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47488" y="1261872"/>
            <a:ext cx="54864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47488" y="12618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596128" y="1261872"/>
            <a:ext cx="475488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96128" y="126187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71616" y="1261872"/>
            <a:ext cx="54864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71616" y="12618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20256" y="1261872"/>
            <a:ext cx="566928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20256" y="126187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★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187184" y="1261872"/>
            <a:ext cx="566928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87184" y="126187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69848" y="1554480"/>
            <a:ext cx="141732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69848" y="15544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Baseline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87168" y="1554480"/>
            <a:ext cx="384048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487168" y="15544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871216" y="1554480"/>
            <a:ext cx="658368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871216" y="155448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CE×4.69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529584" y="1554480"/>
            <a:ext cx="384048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529584" y="15544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913632" y="1554480"/>
            <a:ext cx="658368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913632" y="155448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1554480"/>
            <a:ext cx="475488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0" y="155448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47488" y="1554480"/>
            <a:ext cx="54864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47488" y="15544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79.2%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596128" y="1554480"/>
            <a:ext cx="475488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596128" y="155448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46.1%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071616" y="1554480"/>
            <a:ext cx="54864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071616" y="15544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620256" y="1554480"/>
            <a:ext cx="566928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620256" y="155448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57.7%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187184" y="1554480"/>
            <a:ext cx="566928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187184" y="155448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0.857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069848" y="1901952"/>
            <a:ext cx="1417320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69848" y="19019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E4a  m=0.50</a:t>
            </a:r>
            <a:endParaRPr lang="en-US" sz="900" b="1" dirty="0"/>
          </a:p>
        </p:txBody>
      </p:sp>
      <p:sp>
        <p:nvSpPr>
          <p:cNvPr id="53" name="Shape 51"/>
          <p:cNvSpPr/>
          <p:nvPr/>
        </p:nvSpPr>
        <p:spPr>
          <a:xfrm>
            <a:off x="2487168" y="1901952"/>
            <a:ext cx="384048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487168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871216" y="1901952"/>
            <a:ext cx="658368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871216" y="190195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CE×2.39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529584" y="1901952"/>
            <a:ext cx="384048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529584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913632" y="1901952"/>
            <a:ext cx="658368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913632" y="190195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572000" y="1901952"/>
            <a:ext cx="475488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572000" y="190195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0.375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047488" y="1901952"/>
            <a:ext cx="548640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047488" y="190195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88.7%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596128" y="1901952"/>
            <a:ext cx="475488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596128" y="190195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67.1%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071616" y="1901952"/>
            <a:ext cx="548640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071616" y="190195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64.6%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620256" y="1901952"/>
            <a:ext cx="566928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620256" y="190195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65.8%</a:t>
            </a:r>
            <a:endParaRPr lang="en-US" sz="950" u="sng" dirty="0">
              <a:solidFill>
                <a:srgbClr val="FF0000"/>
              </a:solidFill>
            </a:endParaRPr>
          </a:p>
        </p:txBody>
      </p:sp>
      <p:sp>
        <p:nvSpPr>
          <p:cNvPr id="71" name="Shape 69"/>
          <p:cNvSpPr/>
          <p:nvPr/>
        </p:nvSpPr>
        <p:spPr>
          <a:xfrm>
            <a:off x="7187184" y="1901952"/>
            <a:ext cx="566928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187184" y="190195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0.883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1069848" y="2249424"/>
            <a:ext cx="1417320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1069848" y="22494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E4i  drop=0.3</a:t>
            </a:r>
            <a:endParaRPr lang="en-US" sz="900" b="1" dirty="0"/>
          </a:p>
        </p:txBody>
      </p:sp>
      <p:sp>
        <p:nvSpPr>
          <p:cNvPr id="75" name="Shape 73"/>
          <p:cNvSpPr/>
          <p:nvPr/>
        </p:nvSpPr>
        <p:spPr>
          <a:xfrm>
            <a:off x="2487168" y="2249424"/>
            <a:ext cx="384048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2487168" y="224942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871216" y="2249424"/>
            <a:ext cx="658368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871216" y="224942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CE×2.39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529584" y="2249424"/>
            <a:ext cx="384048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529584" y="224942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913632" y="2249424"/>
            <a:ext cx="658368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913632" y="224942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572000" y="2249424"/>
            <a:ext cx="475488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4572000" y="224942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0.275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047488" y="2249424"/>
            <a:ext cx="548640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5047488" y="224942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88.5%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5596128" y="2249424"/>
            <a:ext cx="475488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5596128" y="224942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69.7%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071616" y="2249424"/>
            <a:ext cx="548640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071616" y="224942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68.3%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620256" y="2249424"/>
            <a:ext cx="566928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6620256" y="224942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63.3%</a:t>
            </a:r>
            <a:endParaRPr lang="en-US" sz="950" b="1" u="sng" dirty="0">
              <a:solidFill>
                <a:srgbClr val="FF0000"/>
              </a:solidFill>
            </a:endParaRPr>
          </a:p>
        </p:txBody>
      </p:sp>
      <p:sp>
        <p:nvSpPr>
          <p:cNvPr id="93" name="Shape 91"/>
          <p:cNvSpPr/>
          <p:nvPr/>
        </p:nvSpPr>
        <p:spPr>
          <a:xfrm>
            <a:off x="7187184" y="2249424"/>
            <a:ext cx="566928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7187184" y="224942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0.881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1069848" y="2596896"/>
            <a:ext cx="1417320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1069848" y="259689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E4e  Cosine ★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2487168" y="2596896"/>
            <a:ext cx="384048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2487168" y="25968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2871216" y="2596896"/>
            <a:ext cx="658368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2871216" y="259689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CE×2.39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3529584" y="2596896"/>
            <a:ext cx="384048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3529584" y="25968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3913632" y="2596896"/>
            <a:ext cx="658368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3913632" y="259689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Cosine+W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4572000" y="2596896"/>
            <a:ext cx="475488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4572000" y="259689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0.425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5047488" y="2596896"/>
            <a:ext cx="548640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5047488" y="259689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88.5%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5596128" y="2596896"/>
            <a:ext cx="475488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5596128" y="259689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68.1%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6071616" y="2596896"/>
            <a:ext cx="548640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6071616" y="259689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59.8%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6620256" y="2596896"/>
            <a:ext cx="566928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6620256" y="259689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63.6%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7187184" y="2596896"/>
            <a:ext cx="566928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7187184" y="259689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0.875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1069848" y="2944368"/>
            <a:ext cx="1417320" cy="347472"/>
          </a:xfrm>
          <a:prstGeom prst="rect">
            <a:avLst/>
          </a:prstGeom>
          <a:solidFill>
            <a:srgbClr val="FDEBD0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1069848" y="29443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E4h  Focal γ=1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2487168" y="2944368"/>
            <a:ext cx="384048" cy="347472"/>
          </a:xfrm>
          <a:prstGeom prst="rect">
            <a:avLst/>
          </a:prstGeom>
          <a:solidFill>
            <a:srgbClr val="FDEBD0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2487168" y="29443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2871216" y="2944368"/>
            <a:ext cx="658368" cy="347472"/>
          </a:xfrm>
          <a:prstGeom prst="rect">
            <a:avLst/>
          </a:prstGeom>
          <a:solidFill>
            <a:srgbClr val="FDEBD0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2871216" y="294436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3529584" y="2944368"/>
            <a:ext cx="384048" cy="347472"/>
          </a:xfrm>
          <a:prstGeom prst="rect">
            <a:avLst/>
          </a:prstGeom>
          <a:solidFill>
            <a:srgbClr val="FDEBD0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3529584" y="29443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3913632" y="2944368"/>
            <a:ext cx="658368" cy="347472"/>
          </a:xfrm>
          <a:prstGeom prst="rect">
            <a:avLst/>
          </a:prstGeom>
          <a:solidFill>
            <a:srgbClr val="FDEBD0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3913632" y="294436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4572000" y="2944368"/>
            <a:ext cx="475488" cy="347472"/>
          </a:xfrm>
          <a:prstGeom prst="rect">
            <a:avLst/>
          </a:prstGeom>
          <a:solidFill>
            <a:srgbClr val="FDEBD0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4572000" y="29443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0.550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5047488" y="2944368"/>
            <a:ext cx="548640" cy="347472"/>
          </a:xfrm>
          <a:prstGeom prst="rect">
            <a:avLst/>
          </a:prstGeom>
          <a:solidFill>
            <a:srgbClr val="FDEBD0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5047488" y="29443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87.8%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5596128" y="2944368"/>
            <a:ext cx="475488" cy="347472"/>
          </a:xfrm>
          <a:prstGeom prst="rect">
            <a:avLst/>
          </a:prstGeom>
          <a:solidFill>
            <a:srgbClr val="FDEBD0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5596128" y="29443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65.8%</a:t>
            </a:r>
            <a:endParaRPr lang="en-US" sz="950" dirty="0"/>
          </a:p>
        </p:txBody>
      </p:sp>
      <p:sp>
        <p:nvSpPr>
          <p:cNvPr id="133" name="Shape 131"/>
          <p:cNvSpPr/>
          <p:nvPr/>
        </p:nvSpPr>
        <p:spPr>
          <a:xfrm>
            <a:off x="6071616" y="2944368"/>
            <a:ext cx="548640" cy="347472"/>
          </a:xfrm>
          <a:prstGeom prst="rect">
            <a:avLst/>
          </a:prstGeom>
          <a:solidFill>
            <a:srgbClr val="FDEBD0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6071616" y="29443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58.5%</a:t>
            </a:r>
            <a:endParaRPr lang="en-US" sz="950" dirty="0"/>
          </a:p>
        </p:txBody>
      </p:sp>
      <p:sp>
        <p:nvSpPr>
          <p:cNvPr id="135" name="Shape 133"/>
          <p:cNvSpPr/>
          <p:nvPr/>
        </p:nvSpPr>
        <p:spPr>
          <a:xfrm>
            <a:off x="6620256" y="2944368"/>
            <a:ext cx="566928" cy="347472"/>
          </a:xfrm>
          <a:prstGeom prst="rect">
            <a:avLst/>
          </a:prstGeom>
          <a:solidFill>
            <a:srgbClr val="FDEBD0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6620256" y="294436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59.6%</a:t>
            </a:r>
            <a:endParaRPr lang="en-US" sz="950" dirty="0"/>
          </a:p>
        </p:txBody>
      </p:sp>
      <p:sp>
        <p:nvSpPr>
          <p:cNvPr id="137" name="Shape 135"/>
          <p:cNvSpPr/>
          <p:nvPr/>
        </p:nvSpPr>
        <p:spPr>
          <a:xfrm>
            <a:off x="7187184" y="2944368"/>
            <a:ext cx="566928" cy="347472"/>
          </a:xfrm>
          <a:prstGeom prst="rect">
            <a:avLst/>
          </a:prstGeom>
          <a:solidFill>
            <a:srgbClr val="FDEBD0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7187184" y="294436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0.866</a:t>
            </a:r>
            <a:endParaRPr lang="en-US" sz="950" dirty="0"/>
          </a:p>
        </p:txBody>
      </p:sp>
      <p:sp>
        <p:nvSpPr>
          <p:cNvPr id="139" name="Shape 137"/>
          <p:cNvSpPr/>
          <p:nvPr/>
        </p:nvSpPr>
        <p:spPr>
          <a:xfrm>
            <a:off x="1069848" y="3291840"/>
            <a:ext cx="1417320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1069848" y="32918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E4h  Focal γ=2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2487168" y="3291840"/>
            <a:ext cx="384048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2487168" y="32918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2871216" y="3291840"/>
            <a:ext cx="658368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2871216" y="329184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</a:t>
            </a: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3529584" y="3291840"/>
            <a:ext cx="384048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3529584" y="32918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50" dirty="0"/>
          </a:p>
        </p:txBody>
      </p:sp>
      <p:sp>
        <p:nvSpPr>
          <p:cNvPr id="147" name="Shape 145"/>
          <p:cNvSpPr/>
          <p:nvPr/>
        </p:nvSpPr>
        <p:spPr>
          <a:xfrm>
            <a:off x="3913632" y="3291840"/>
            <a:ext cx="658368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3913632" y="329184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</a:t>
            </a:r>
            <a:endParaRPr lang="en-US" sz="950" dirty="0"/>
          </a:p>
        </p:txBody>
      </p:sp>
      <p:sp>
        <p:nvSpPr>
          <p:cNvPr id="149" name="Shape 147"/>
          <p:cNvSpPr/>
          <p:nvPr/>
        </p:nvSpPr>
        <p:spPr>
          <a:xfrm>
            <a:off x="4572000" y="3291840"/>
            <a:ext cx="475488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8"/>
          <p:cNvSpPr/>
          <p:nvPr/>
        </p:nvSpPr>
        <p:spPr>
          <a:xfrm>
            <a:off x="4572000" y="329184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</a:t>
            </a:r>
            <a:endParaRPr lang="en-US" sz="950" dirty="0"/>
          </a:p>
        </p:txBody>
      </p:sp>
      <p:sp>
        <p:nvSpPr>
          <p:cNvPr id="151" name="Shape 149"/>
          <p:cNvSpPr/>
          <p:nvPr/>
        </p:nvSpPr>
        <p:spPr>
          <a:xfrm>
            <a:off x="5047488" y="3291840"/>
            <a:ext cx="548640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5047488" y="32918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82.0%</a:t>
            </a:r>
            <a:endParaRPr lang="en-US" sz="950" dirty="0"/>
          </a:p>
        </p:txBody>
      </p:sp>
      <p:sp>
        <p:nvSpPr>
          <p:cNvPr id="153" name="Shape 151"/>
          <p:cNvSpPr/>
          <p:nvPr/>
        </p:nvSpPr>
        <p:spPr>
          <a:xfrm>
            <a:off x="5596128" y="3291840"/>
            <a:ext cx="475488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5596128" y="329184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53.5%</a:t>
            </a:r>
            <a:endParaRPr lang="en-US" sz="950" dirty="0"/>
          </a:p>
        </p:txBody>
      </p:sp>
      <p:sp>
        <p:nvSpPr>
          <p:cNvPr id="155" name="Shape 153"/>
          <p:cNvSpPr/>
          <p:nvPr/>
        </p:nvSpPr>
        <p:spPr>
          <a:xfrm>
            <a:off x="6071616" y="3291840"/>
            <a:ext cx="548640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6071616" y="32918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69.5%</a:t>
            </a:r>
            <a:endParaRPr lang="en-US" sz="950" dirty="0"/>
          </a:p>
        </p:txBody>
      </p:sp>
      <p:sp>
        <p:nvSpPr>
          <p:cNvPr id="157" name="Shape 155"/>
          <p:cNvSpPr/>
          <p:nvPr/>
        </p:nvSpPr>
        <p:spPr>
          <a:xfrm>
            <a:off x="6620256" y="3291840"/>
            <a:ext cx="566928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/>
          <p:nvPr/>
        </p:nvSpPr>
        <p:spPr>
          <a:xfrm>
            <a:off x="6620256" y="329184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60.4%</a:t>
            </a:r>
            <a:endParaRPr lang="en-US" sz="950" dirty="0"/>
          </a:p>
        </p:txBody>
      </p:sp>
      <p:sp>
        <p:nvSpPr>
          <p:cNvPr id="159" name="Shape 157"/>
          <p:cNvSpPr/>
          <p:nvPr/>
        </p:nvSpPr>
        <p:spPr>
          <a:xfrm>
            <a:off x="7187184" y="3291840"/>
            <a:ext cx="566928" cy="347472"/>
          </a:xfrm>
          <a:prstGeom prst="rect">
            <a:avLst/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158"/>
          <p:cNvSpPr/>
          <p:nvPr/>
        </p:nvSpPr>
        <p:spPr>
          <a:xfrm>
            <a:off x="7187184" y="329184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0.861</a:t>
            </a:r>
            <a:endParaRPr lang="en-US" sz="950" dirty="0"/>
          </a:p>
        </p:txBody>
      </p:sp>
      <p:sp>
        <p:nvSpPr>
          <p:cNvPr id="161" name="Shape 159"/>
          <p:cNvSpPr/>
          <p:nvPr/>
        </p:nvSpPr>
        <p:spPr>
          <a:xfrm>
            <a:off x="1069848" y="3639312"/>
            <a:ext cx="14173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/>
          <p:nvPr/>
        </p:nvSpPr>
        <p:spPr>
          <a:xfrm>
            <a:off x="1069848" y="36393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FINAL (E4e)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2487168" y="3639312"/>
            <a:ext cx="384048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162"/>
          <p:cNvSpPr/>
          <p:nvPr/>
        </p:nvSpPr>
        <p:spPr>
          <a:xfrm>
            <a:off x="2487168" y="3639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</p:txBody>
      </p:sp>
      <p:sp>
        <p:nvSpPr>
          <p:cNvPr id="165" name="Shape 163"/>
          <p:cNvSpPr/>
          <p:nvPr/>
        </p:nvSpPr>
        <p:spPr>
          <a:xfrm>
            <a:off x="2871216" y="3639312"/>
            <a:ext cx="658368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 164"/>
          <p:cNvSpPr/>
          <p:nvPr/>
        </p:nvSpPr>
        <p:spPr>
          <a:xfrm>
            <a:off x="2871216" y="363931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CE×2.39</a:t>
            </a:r>
            <a:endParaRPr lang="en-US" sz="950" dirty="0"/>
          </a:p>
        </p:txBody>
      </p:sp>
      <p:sp>
        <p:nvSpPr>
          <p:cNvPr id="167" name="Shape 165"/>
          <p:cNvSpPr/>
          <p:nvPr/>
        </p:nvSpPr>
        <p:spPr>
          <a:xfrm>
            <a:off x="3529584" y="3639312"/>
            <a:ext cx="384048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166"/>
          <p:cNvSpPr/>
          <p:nvPr/>
        </p:nvSpPr>
        <p:spPr>
          <a:xfrm>
            <a:off x="3529584" y="3639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50" dirty="0"/>
          </a:p>
        </p:txBody>
      </p:sp>
      <p:sp>
        <p:nvSpPr>
          <p:cNvPr id="169" name="Shape 167"/>
          <p:cNvSpPr/>
          <p:nvPr/>
        </p:nvSpPr>
        <p:spPr>
          <a:xfrm>
            <a:off x="3913632" y="3639312"/>
            <a:ext cx="658368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 168"/>
          <p:cNvSpPr/>
          <p:nvPr/>
        </p:nvSpPr>
        <p:spPr>
          <a:xfrm>
            <a:off x="3913632" y="363931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Cosine+W</a:t>
            </a:r>
            <a:endParaRPr lang="en-US" sz="950" dirty="0"/>
          </a:p>
        </p:txBody>
      </p:sp>
      <p:sp>
        <p:nvSpPr>
          <p:cNvPr id="171" name="Shape 169"/>
          <p:cNvSpPr/>
          <p:nvPr/>
        </p:nvSpPr>
        <p:spPr>
          <a:xfrm>
            <a:off x="4572000" y="3639312"/>
            <a:ext cx="475488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 170"/>
          <p:cNvSpPr/>
          <p:nvPr/>
        </p:nvSpPr>
        <p:spPr>
          <a:xfrm>
            <a:off x="4572000" y="363931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0.425</a:t>
            </a:r>
            <a:endParaRPr lang="en-US" sz="950" dirty="0"/>
          </a:p>
        </p:txBody>
      </p:sp>
      <p:sp>
        <p:nvSpPr>
          <p:cNvPr id="173" name="Shape 171"/>
          <p:cNvSpPr/>
          <p:nvPr/>
        </p:nvSpPr>
        <p:spPr>
          <a:xfrm>
            <a:off x="5047488" y="3639312"/>
            <a:ext cx="5486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 172"/>
          <p:cNvSpPr/>
          <p:nvPr/>
        </p:nvSpPr>
        <p:spPr>
          <a:xfrm>
            <a:off x="5047488" y="363931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86.75%</a:t>
            </a:r>
            <a:endParaRPr lang="en-US" sz="950" dirty="0"/>
          </a:p>
        </p:txBody>
      </p:sp>
      <p:sp>
        <p:nvSpPr>
          <p:cNvPr id="175" name="Shape 173"/>
          <p:cNvSpPr/>
          <p:nvPr/>
        </p:nvSpPr>
        <p:spPr>
          <a:xfrm>
            <a:off x="5596128" y="3639312"/>
            <a:ext cx="475488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 174"/>
          <p:cNvSpPr/>
          <p:nvPr/>
        </p:nvSpPr>
        <p:spPr>
          <a:xfrm>
            <a:off x="5596128" y="363931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64.9%</a:t>
            </a:r>
            <a:endParaRPr lang="en-US" sz="950" dirty="0"/>
          </a:p>
        </p:txBody>
      </p:sp>
      <p:sp>
        <p:nvSpPr>
          <p:cNvPr id="177" name="Shape 175"/>
          <p:cNvSpPr/>
          <p:nvPr/>
        </p:nvSpPr>
        <p:spPr>
          <a:xfrm>
            <a:off x="6071616" y="3639312"/>
            <a:ext cx="5486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Text 176"/>
          <p:cNvSpPr/>
          <p:nvPr/>
        </p:nvSpPr>
        <p:spPr>
          <a:xfrm>
            <a:off x="6071616" y="363931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60.7%</a:t>
            </a:r>
            <a:endParaRPr lang="en-US" sz="950" dirty="0"/>
          </a:p>
        </p:txBody>
      </p:sp>
      <p:sp>
        <p:nvSpPr>
          <p:cNvPr id="179" name="Shape 177"/>
          <p:cNvSpPr/>
          <p:nvPr/>
        </p:nvSpPr>
        <p:spPr>
          <a:xfrm>
            <a:off x="6620256" y="3639312"/>
            <a:ext cx="566928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Text 178"/>
          <p:cNvSpPr/>
          <p:nvPr/>
        </p:nvSpPr>
        <p:spPr>
          <a:xfrm>
            <a:off x="6620256" y="363931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62.7%</a:t>
            </a:r>
            <a:endParaRPr lang="en-US" sz="950" dirty="0"/>
          </a:p>
        </p:txBody>
      </p:sp>
      <p:sp>
        <p:nvSpPr>
          <p:cNvPr id="181" name="Shape 179"/>
          <p:cNvSpPr/>
          <p:nvPr/>
        </p:nvSpPr>
        <p:spPr>
          <a:xfrm>
            <a:off x="7187184" y="3639312"/>
            <a:ext cx="566928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Text 180"/>
          <p:cNvSpPr/>
          <p:nvPr/>
        </p:nvSpPr>
        <p:spPr>
          <a:xfrm>
            <a:off x="7187184" y="363931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0.861</a:t>
            </a:r>
            <a:endParaRPr lang="en-US" sz="950" dirty="0"/>
          </a:p>
        </p:txBody>
      </p:sp>
      <p:sp>
        <p:nvSpPr>
          <p:cNvPr id="183" name="Shape 181"/>
          <p:cNvSpPr/>
          <p:nvPr/>
        </p:nvSpPr>
        <p:spPr>
          <a:xfrm>
            <a:off x="91440" y="4572000"/>
            <a:ext cx="8961120" cy="320040"/>
          </a:xfrm>
          <a:prstGeom prst="rect">
            <a:avLst/>
          </a:prstGeom>
          <a:solidFill>
            <a:srgbClr val="D5F5E3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Text 182"/>
          <p:cNvSpPr/>
          <p:nvPr/>
        </p:nvSpPr>
        <p:spPr>
          <a:xfrm>
            <a:off x="182880" y="45902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E4a - BEST </a:t>
            </a: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Improvement: 57.7% → 6</a:t>
            </a:r>
            <a:r>
              <a:rPr lang="tr-TR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tr-TR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 (+</a:t>
            </a:r>
            <a:r>
              <a:rPr lang="tr-TR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.01 pts)  |  AUC: 0.857 → 0.8</a:t>
            </a:r>
            <a:r>
              <a:rPr lang="tr-TR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Overfitting gap: 0.27 → 0.14</a:t>
            </a:r>
            <a:endParaRPr lang="en-US" sz="105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Analysis — Strengths, Limitations &amp; Key Insights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3949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 for thesis and supervisor discussion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Week 5–6  |  March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932688"/>
            <a:ext cx="2743200" cy="3840480"/>
          </a:xfrm>
          <a:prstGeom prst="rect">
            <a:avLst/>
          </a:prstGeom>
          <a:solidFill>
            <a:srgbClr val="D5F5E3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9692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8F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Strengths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1353312"/>
            <a:ext cx="2651760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+5.01 pts over baseline with principled experiment chain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86.14% — threshold-independent, clinically meaningful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reduced: gap 0.27→0.14 (near target of 0.15)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methodology: official splits, separate val/test, single final test evaluation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 confirms model focuses on bone anatomy, not background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 (Focal Loss) documented — valid thesis contribution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optimisation: +2.8 F1 pts at no model cost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90672" y="932688"/>
            <a:ext cx="2743200" cy="3840480"/>
          </a:xfrm>
          <a:prstGeom prst="rect">
            <a:avLst/>
          </a:prstGeom>
          <a:solidFill>
            <a:srgbClr val="FDEBD0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36392" y="9692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C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Limitations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36392" y="1353312"/>
            <a:ext cx="2651760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fell from 77%→61%: 24 missed fractures in test set (FN=24)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FP=20: false alarms on complex joint anatomy — may concern clinicians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noisy across epochs — small val set (82 fractured) causes variance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is relatively shallow — larger backbones may help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dataset (FracAtlas only) — no external validation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 shows diffuse attention on missed fractures — needs better localisation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98464" y="932688"/>
            <a:ext cx="2971800" cy="3840480"/>
          </a:xfrm>
          <a:prstGeom prst="rect">
            <a:avLst/>
          </a:prstGeom>
          <a:solidFill>
            <a:srgbClr val="D6EAF8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44184" y="96926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🔭 Key Insights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44184" y="1353312"/>
            <a:ext cx="2880360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rebalancing (E4a) was the dominant driver — +8 F1 pts on val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was the second most important addition (gap reduction)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warmup gave smoothest training but smaller F1 gain over dropout alone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failed: class weights already solve imbalance here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 hurt performance — augmentation at inference time is inconsistent with val distribution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curve shape suggests model can be tuned differently for different clinical priorities (high recall vs high precision)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91440" cy="109728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SOTA Comparison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We Stand in the Literature?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Week 5–6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SOTA Comparison — FracAtlas Papers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3949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image-level classification papers included. YOLO/bbox papers excluded.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Week 5–6  |  March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6589" y="1216152"/>
            <a:ext cx="201168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6589" y="1216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38269" y="1216152"/>
            <a:ext cx="13716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38269" y="12161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/ Split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9869" y="1216152"/>
            <a:ext cx="8229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09869" y="121615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32829" y="1216152"/>
            <a:ext cx="685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32829" y="121615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18629" y="1216152"/>
            <a:ext cx="685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18629" y="121615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4429" y="1216152"/>
            <a:ext cx="64008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4429" y="12161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4509" y="1216152"/>
            <a:ext cx="9144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44509" y="12161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Comparability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6589" y="1536192"/>
            <a:ext cx="2011680" cy="658368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3165" y="1554480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Ruhi et al. 2024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252F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(InceptionV3 + BAM)</a:t>
            </a:r>
            <a:endParaRPr lang="en-US" sz="900" dirty="0">
              <a:highlight>
                <a:srgbClr val="FFFF00"/>
              </a:highlight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838269" y="1536192"/>
            <a:ext cx="1371600" cy="658368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874845" y="1554480"/>
            <a:ext cx="1316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FracAtlas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splits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09869" y="1536192"/>
            <a:ext cx="822960" cy="658368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46445" y="1554480"/>
            <a:ext cx="768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90.48%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32829" y="1536192"/>
            <a:ext cx="685800" cy="658368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69405" y="1554480"/>
            <a:ext cx="630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90.57%*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18629" y="1536192"/>
            <a:ext cx="685800" cy="658368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55205" y="1554480"/>
            <a:ext cx="630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90.57%*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4429" y="1536192"/>
            <a:ext cx="640080" cy="658368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41005" y="1554480"/>
            <a:ext cx="585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44509" y="1536192"/>
            <a:ext cx="914400" cy="658368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081085" y="1554480"/>
            <a:ext cx="859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Direct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6589" y="219456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63165" y="2212848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Gupta &amp; Sharma 2024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dirty="0">
                <a:solidFill>
                  <a:srgbClr val="1A252F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EfficientNet-B6</a:t>
            </a: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838269" y="2194560"/>
            <a:ext cx="1371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874845" y="2212848"/>
            <a:ext cx="1316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FracAtlas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Non-standard splits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09869" y="2194560"/>
            <a:ext cx="822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246445" y="2212848"/>
            <a:ext cx="768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96.83%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32829" y="2194560"/>
            <a:ext cx="685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69405" y="2212848"/>
            <a:ext cx="630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96.06%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718629" y="2194560"/>
            <a:ext cx="685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755205" y="2212848"/>
            <a:ext cx="630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96.86%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4429" y="2194560"/>
            <a:ext cx="640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41005" y="2212848"/>
            <a:ext cx="585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96.06%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044509" y="2194560"/>
            <a:ext cx="914400" cy="658368"/>
          </a:xfrm>
          <a:prstGeom prst="rect">
            <a:avLst/>
          </a:prstGeom>
          <a:solidFill>
            <a:srgbClr val="FDEBD0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081085" y="2212848"/>
            <a:ext cx="859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26589" y="2852928"/>
            <a:ext cx="2011680" cy="658368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63165" y="2871216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et al. 2025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252F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(Custom CNN)</a:t>
            </a:r>
            <a:endParaRPr lang="en-US" sz="900" dirty="0">
              <a:highlight>
                <a:srgbClr val="FFFF00"/>
              </a:highlight>
            </a:endParaRPr>
          </a:p>
        </p:txBody>
      </p:sp>
      <p:sp>
        <p:nvSpPr>
          <p:cNvPr id="51" name="Shape 49"/>
          <p:cNvSpPr/>
          <p:nvPr/>
        </p:nvSpPr>
        <p:spPr>
          <a:xfrm>
            <a:off x="2838269" y="2852928"/>
            <a:ext cx="1371600" cy="658368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874845" y="2871216"/>
            <a:ext cx="1316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FracAtlas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no val split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209869" y="2852928"/>
            <a:ext cx="822960" cy="658368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246445" y="2871216"/>
            <a:ext cx="768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95.96%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32829" y="2852928"/>
            <a:ext cx="685800" cy="658368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069405" y="2871216"/>
            <a:ext cx="630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718629" y="2852928"/>
            <a:ext cx="685800" cy="658368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755205" y="2871216"/>
            <a:ext cx="630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404429" y="2852928"/>
            <a:ext cx="640080" cy="658368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41005" y="2871216"/>
            <a:ext cx="585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044509" y="2852928"/>
            <a:ext cx="914400" cy="658368"/>
          </a:xfrm>
          <a:prstGeom prst="rect">
            <a:avLst/>
          </a:prstGeom>
          <a:solidFill>
            <a:srgbClr val="FDEBD0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081085" y="2871216"/>
            <a:ext cx="859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26589" y="3511296"/>
            <a:ext cx="20116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63165" y="3529584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Our Model (ResNet-18)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838269" y="3511296"/>
            <a:ext cx="13716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2874845" y="3529584"/>
            <a:ext cx="1316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FracAtlas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splits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209869" y="3511296"/>
            <a:ext cx="82296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246445" y="3529584"/>
            <a:ext cx="768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86.75%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032829" y="3511296"/>
            <a:ext cx="6858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069405" y="3529584"/>
            <a:ext cx="630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60.66%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718629" y="3511296"/>
            <a:ext cx="6858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755205" y="3529584"/>
            <a:ext cx="630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tr-TR" sz="1000" b="1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000" b="1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tr-TR" sz="1000" b="1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r>
              <a:rPr lang="en-US" sz="1000" b="1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404429" y="3511296"/>
            <a:ext cx="6400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441005" y="3529584"/>
            <a:ext cx="585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86.14%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044509" y="3511296"/>
            <a:ext cx="91440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081085" y="3529584"/>
            <a:ext cx="859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Reference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63165" y="4265676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* Ruhi et al. report identical Precision=Recall=F1 — likely macro-averaged, not per-class on Fractured minority. No AUC reported by any comparison paper.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8588F-8AC0-CF96-C7FB-407011493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CE537E-EC85-83AB-4172-1A8F8BE576A5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7AA6349-6B31-F6BA-1259-C73E1D39F15F}"/>
              </a:ext>
            </a:extLst>
          </p:cNvPr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A08A6F-12FF-80E6-221E-ACCFD39494CF}"/>
              </a:ext>
            </a:extLst>
          </p:cNvPr>
          <p:cNvSpPr/>
          <p:nvPr/>
        </p:nvSpPr>
        <p:spPr>
          <a:xfrm>
            <a:off x="274320" y="138719"/>
            <a:ext cx="859536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tr-TR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SOTA FracAtlas Approaches</a:t>
            </a:r>
            <a:endParaRPr lang="en-US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42D1533-F3ED-7B6C-B232-EC85E7C1AF1B}"/>
              </a:ext>
            </a:extLst>
          </p:cNvPr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Week 5–6  |  March 2026</a:t>
            </a:r>
            <a:endParaRPr lang="en-US" sz="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C007D5A-3442-50BF-11BE-31B433350B69}"/>
              </a:ext>
            </a:extLst>
          </p:cNvPr>
          <p:cNvSpPr/>
          <p:nvPr/>
        </p:nvSpPr>
        <p:spPr>
          <a:xfrm>
            <a:off x="228600" y="1353312"/>
            <a:ext cx="2651760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00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FE551E9-D575-30E8-451D-A6F3FEE70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246987"/>
              </p:ext>
            </p:extLst>
          </p:nvPr>
        </p:nvGraphicFramePr>
        <p:xfrm>
          <a:off x="71192" y="898024"/>
          <a:ext cx="9025873" cy="41768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80185">
                  <a:extLst>
                    <a:ext uri="{9D8B030D-6E8A-4147-A177-3AD203B41FA5}">
                      <a16:colId xmlns:a16="http://schemas.microsoft.com/office/drawing/2014/main" val="127731405"/>
                    </a:ext>
                  </a:extLst>
                </a:gridCol>
                <a:gridCol w="818099">
                  <a:extLst>
                    <a:ext uri="{9D8B030D-6E8A-4147-A177-3AD203B41FA5}">
                      <a16:colId xmlns:a16="http://schemas.microsoft.com/office/drawing/2014/main" val="227385828"/>
                    </a:ext>
                  </a:extLst>
                </a:gridCol>
                <a:gridCol w="774272">
                  <a:extLst>
                    <a:ext uri="{9D8B030D-6E8A-4147-A177-3AD203B41FA5}">
                      <a16:colId xmlns:a16="http://schemas.microsoft.com/office/drawing/2014/main" val="1639898869"/>
                    </a:ext>
                  </a:extLst>
                </a:gridCol>
                <a:gridCol w="1512021">
                  <a:extLst>
                    <a:ext uri="{9D8B030D-6E8A-4147-A177-3AD203B41FA5}">
                      <a16:colId xmlns:a16="http://schemas.microsoft.com/office/drawing/2014/main" val="2039985441"/>
                    </a:ext>
                  </a:extLst>
                </a:gridCol>
                <a:gridCol w="456198">
                  <a:extLst>
                    <a:ext uri="{9D8B030D-6E8A-4147-A177-3AD203B41FA5}">
                      <a16:colId xmlns:a16="http://schemas.microsoft.com/office/drawing/2014/main" val="2991819063"/>
                    </a:ext>
                  </a:extLst>
                </a:gridCol>
                <a:gridCol w="407505">
                  <a:extLst>
                    <a:ext uri="{9D8B030D-6E8A-4147-A177-3AD203B41FA5}">
                      <a16:colId xmlns:a16="http://schemas.microsoft.com/office/drawing/2014/main" val="518898062"/>
                    </a:ext>
                  </a:extLst>
                </a:gridCol>
                <a:gridCol w="441764">
                  <a:extLst>
                    <a:ext uri="{9D8B030D-6E8A-4147-A177-3AD203B41FA5}">
                      <a16:colId xmlns:a16="http://schemas.microsoft.com/office/drawing/2014/main" val="1830229639"/>
                    </a:ext>
                  </a:extLst>
                </a:gridCol>
                <a:gridCol w="435168">
                  <a:extLst>
                    <a:ext uri="{9D8B030D-6E8A-4147-A177-3AD203B41FA5}">
                      <a16:colId xmlns:a16="http://schemas.microsoft.com/office/drawing/2014/main" val="982459633"/>
                    </a:ext>
                  </a:extLst>
                </a:gridCol>
                <a:gridCol w="3200661">
                  <a:extLst>
                    <a:ext uri="{9D8B030D-6E8A-4147-A177-3AD203B41FA5}">
                      <a16:colId xmlns:a16="http://schemas.microsoft.com/office/drawing/2014/main" val="1809763571"/>
                    </a:ext>
                  </a:extLst>
                </a:gridCol>
              </a:tblGrid>
              <a:tr h="313239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Paper</a:t>
                      </a:r>
                      <a:endParaRPr lang="en-US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Authors / Year</a:t>
                      </a:r>
                      <a:endParaRPr lang="en-US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Dataset</a:t>
                      </a:r>
                      <a:endParaRPr lang="en-US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Architecture &amp; Key Setup</a:t>
                      </a:r>
                      <a:endParaRPr lang="en-US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Acc.</a:t>
                      </a:r>
                      <a:endParaRPr lang="en-US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Recall</a:t>
                      </a:r>
                      <a:endParaRPr lang="en-US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F1</a:t>
                      </a:r>
                      <a:endParaRPr lang="en-US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AUC</a:t>
                      </a:r>
                      <a:endParaRPr lang="en-US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Comparability &amp; Critical Notes</a:t>
                      </a:r>
                      <a:endParaRPr lang="en-US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extLst>
                  <a:ext uri="{0D108BD9-81ED-4DB2-BD59-A6C34878D82A}">
                    <a16:rowId xmlns:a16="http://schemas.microsoft.com/office/drawing/2014/main" val="342562795"/>
                  </a:ext>
                </a:extLst>
              </a:tr>
              <a:tr h="1271494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A Novel Approach Towards Classification of Bone Fracture Using Attention Based Transfer Learning</a:t>
                      </a:r>
                      <a:endParaRPr lang="en-US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Ruhi, Nahar &amp; Ashrafi arXiv 2024</a:t>
                      </a:r>
                      <a:endParaRPr lang="en-US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FracAtlas 4,083 images 717 fractured</a:t>
                      </a:r>
                      <a:endParaRPr lang="en-US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700" dirty="0">
                          <a:effectLst/>
                        </a:rPr>
                        <a:t>Backbone</a:t>
                      </a:r>
                      <a:r>
                        <a:rPr lang="en-US" sz="700" b="1" dirty="0">
                          <a:effectLst/>
                          <a:highlight>
                            <a:srgbClr val="FFFF00"/>
                          </a:highlight>
                        </a:rPr>
                        <a:t>: InceptionV3 + 3× BAM (Bottleneck Attention Module) </a:t>
                      </a:r>
                      <a:r>
                        <a:rPr lang="en-US" sz="700" dirty="0">
                          <a:effectLst/>
                        </a:rPr>
                        <a:t>Split: Official fracture splits + custom non-frac 80/11.5/8.5% Input: 224×224 | Epochs: 100 | LR: 1e-3 | Adam | </a:t>
                      </a:r>
                      <a:r>
                        <a:rPr lang="en-US" sz="700" dirty="0" err="1">
                          <a:effectLst/>
                        </a:rPr>
                        <a:t>ReduceLROnPlateau</a:t>
                      </a:r>
                      <a:r>
                        <a:rPr lang="en-US" sz="700" dirty="0">
                          <a:effectLst/>
                        </a:rPr>
                        <a:t> Note: </a:t>
                      </a:r>
                      <a:r>
                        <a:rPr lang="en-US" sz="600" dirty="0">
                          <a:effectLst/>
                        </a:rPr>
                        <a:t>Best model = InceptionV3 without ImageNet pretrain (F1 reported as precision=recall=F1 — suspicious equality)</a:t>
                      </a:r>
                      <a:endParaRPr lang="en-US" sz="7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700" b="1">
                          <a:effectLst/>
                        </a:rPr>
                        <a:t>90.48%</a:t>
                      </a:r>
                      <a:endParaRPr lang="en-US" sz="7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700" b="1">
                          <a:effectLst/>
                        </a:rPr>
                        <a:t>90.57%*</a:t>
                      </a:r>
                      <a:endParaRPr lang="en-US" sz="7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700" b="1">
                          <a:effectLst/>
                        </a:rPr>
                        <a:t>90.57%*</a:t>
                      </a:r>
                      <a:endParaRPr lang="en-US" sz="7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—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✅ DIRECTLY COMPARABLE </a:t>
                      </a:r>
                      <a:r>
                        <a:rPr lang="en-US" sz="700" dirty="0">
                          <a:effectLst/>
                        </a:rPr>
                        <a:t>Same dataset (</a:t>
                      </a:r>
                      <a:r>
                        <a:rPr lang="en-US" sz="700" dirty="0" err="1">
                          <a:effectLst/>
                        </a:rPr>
                        <a:t>FracAtlas</a:t>
                      </a:r>
                      <a:r>
                        <a:rPr lang="en-US" sz="700" dirty="0">
                          <a:effectLst/>
                        </a:rPr>
                        <a:t>), same official splits, image-level labels, no bounding boxes, 224×224 input. Closest SOTA peer.  ⚠ Critical limitations: • Precision = Recall = F1 = 0.9057 for all models — mathematically impossible unless threshold is perfectly tuned or macro-averaged; individual class metrics not reported • No AUC reported — cannot assess discriminative ability on imbalanced data • Accuracy is misleading on 4.69:1 imbalanced data (predicting all Non-Frac = 82.4% accuracy baseline) • 100 epochs with </a:t>
                      </a:r>
                      <a:r>
                        <a:rPr lang="en-US" sz="700" dirty="0" err="1">
                          <a:effectLst/>
                        </a:rPr>
                        <a:t>ReduceLROnPlateau</a:t>
                      </a:r>
                      <a:r>
                        <a:rPr lang="en-US" sz="700" dirty="0">
                          <a:effectLst/>
                        </a:rPr>
                        <a:t> — heavy computation vs. our 20 epochs  Our F1 (62.71%) appears lower but is computed per-class on the minority (Fractured) class — a strictly harder and clinically relevant measure.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extLst>
                  <a:ext uri="{0D108BD9-81ED-4DB2-BD59-A6C34878D82A}">
                    <a16:rowId xmlns:a16="http://schemas.microsoft.com/office/drawing/2014/main" val="691897622"/>
                  </a:ext>
                </a:extLst>
              </a:tr>
              <a:tr h="1233324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Bone Fracture Classification Using Transfer Learning</a:t>
                      </a:r>
                      <a:endParaRPr lang="en-US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Gupta &amp; Sharma arXiv 2024</a:t>
                      </a:r>
                      <a:endParaRPr lang="en-US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FracAtlas 4,083 images 717 fractured</a:t>
                      </a:r>
                      <a:endParaRPr lang="en-US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700" dirty="0">
                          <a:effectLst/>
                        </a:rPr>
                        <a:t>Backbone: </a:t>
                      </a:r>
                      <a:r>
                        <a:rPr lang="en-US" sz="700" dirty="0">
                          <a:effectLst/>
                          <a:highlight>
                            <a:srgbClr val="FFFF00"/>
                          </a:highlight>
                        </a:rPr>
                        <a:t>EfficientNet-B6 (ImageNet pretrained)</a:t>
                      </a:r>
                      <a:r>
                        <a:rPr lang="en-US" sz="700" dirty="0">
                          <a:effectLst/>
                        </a:rPr>
                        <a:t> Split: Custom — not following official </a:t>
                      </a:r>
                      <a:r>
                        <a:rPr lang="en-US" sz="700" dirty="0" err="1">
                          <a:effectLst/>
                        </a:rPr>
                        <a:t>FracAtlas</a:t>
                      </a:r>
                      <a:r>
                        <a:rPr lang="en-US" sz="700" dirty="0">
                          <a:effectLst/>
                        </a:rPr>
                        <a:t> splits Input: Unspecified | Epochs: 7 only | Cosine Annealing Warm Restart Preprocessing: Normalization only (CLAHE, edge detection etc. tried and discarded) Platform: Kaggle Tesla P100</a:t>
                      </a:r>
                      <a:endParaRPr lang="en-US" sz="7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700" b="1">
                          <a:effectLst/>
                        </a:rPr>
                        <a:t>96.83%</a:t>
                      </a:r>
                      <a:endParaRPr lang="en-US" sz="7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700" b="1" dirty="0">
                          <a:effectLst/>
                        </a:rPr>
                        <a:t>96.06%</a:t>
                      </a:r>
                      <a:endParaRPr lang="en-US" sz="7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700" b="1">
                          <a:effectLst/>
                        </a:rPr>
                        <a:t>96.86%</a:t>
                      </a:r>
                      <a:endParaRPr lang="en-US" sz="7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800" b="1" dirty="0">
                          <a:effectLst/>
                        </a:rPr>
                        <a:t>96.06%</a:t>
                      </a:r>
                      <a:endParaRPr lang="en-US" sz="8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⚠️ PARTIALLY COMPARABLE </a:t>
                      </a:r>
                      <a:r>
                        <a:rPr lang="en-US" sz="700">
                          <a:effectLst/>
                        </a:rPr>
                        <a:t>Uses FracAtlas but does NOT follow official train/val/test splits → results are not reproducible on the standard benchmark.  ⚠ Critical limitations: • Non-standard splits inflate metrics — train/val/test boundaries unclear • Only 7 training epochs — insufficient for convergence on a larger backbone like EfficientNet-B6 (suggests data leakage or overfitting to training set) • Train accuracy 99%, test 96.83% — suspiciously small gap given only 7 epochs • 96.06% AUC matches Recall — unusual; likely macro-averaged • No class imbalance handling described despite acknowledging it as future work  Their transfer learning baseline (ResNet50, EfficientNetB0) scored only 66–67% accuracy — similar to our E1 frozen baseline, confirming the difficulty of the task.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extLst>
                  <a:ext uri="{0D108BD9-81ED-4DB2-BD59-A6C34878D82A}">
                    <a16:rowId xmlns:a16="http://schemas.microsoft.com/office/drawing/2014/main" val="476104977"/>
                  </a:ext>
                </a:extLst>
              </a:tr>
              <a:tr h="1358839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AI-Based Applied Innovation for Fracture Detection in X-rays Using Custom CNN and Transfer Learning Models</a:t>
                      </a:r>
                      <a:endParaRPr lang="en-US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Hassan, Afzaal et al. arXiv 2025</a:t>
                      </a:r>
                      <a:endParaRPr lang="en-US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700">
                          <a:effectLst/>
                        </a:rPr>
                        <a:t>FracAtlas 4,083 images 717 fractured</a:t>
                      </a:r>
                      <a:endParaRPr lang="en-US" sz="7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700" dirty="0">
                          <a:effectLst/>
                        </a:rPr>
                        <a:t>Best model: Custom CNN (3× Conv blocks, </a:t>
                      </a:r>
                      <a:r>
                        <a:rPr lang="en-US" sz="700" dirty="0" err="1">
                          <a:effectLst/>
                        </a:rPr>
                        <a:t>BatchNorm</a:t>
                      </a:r>
                      <a:r>
                        <a:rPr lang="en-US" sz="700" dirty="0">
                          <a:effectLst/>
                        </a:rPr>
                        <a:t>, Dropout, Dense) Compared vs: EfficientNetB0, MobileNetV2, ResNet50 (all failed — F1 0.28–0.36) </a:t>
                      </a:r>
                      <a:r>
                        <a:rPr lang="en-US" sz="700" dirty="0">
                          <a:effectLst/>
                          <a:highlight>
                            <a:srgbClr val="FFFF00"/>
                          </a:highlight>
                        </a:rPr>
                        <a:t>Input: 128×128 (custom CNN) / 224×224 (transfer models) Split: Stratified 80/20 train-test (no separate </a:t>
                      </a:r>
                      <a:r>
                        <a:rPr lang="en-US" sz="700" dirty="0" err="1">
                          <a:effectLst/>
                          <a:highlight>
                            <a:srgbClr val="FFFF00"/>
                          </a:highlight>
                        </a:rPr>
                        <a:t>val</a:t>
                      </a:r>
                      <a:r>
                        <a:rPr lang="en-US" sz="700" dirty="0">
                          <a:effectLst/>
                          <a:highlight>
                            <a:srgbClr val="FFFF00"/>
                          </a:highlight>
                        </a:rPr>
                        <a:t> set) Training: 30 epochs</a:t>
                      </a:r>
                      <a:r>
                        <a:rPr lang="en-US" sz="700" dirty="0">
                          <a:effectLst/>
                        </a:rPr>
                        <a:t>, Adam, binary cross-entropy, </a:t>
                      </a:r>
                      <a:r>
                        <a:rPr lang="en-US" sz="700" dirty="0" err="1">
                          <a:effectLst/>
                        </a:rPr>
                        <a:t>EarlyStopping</a:t>
                      </a:r>
                      <a:endParaRPr lang="en-US" sz="7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700" b="1">
                          <a:effectLst/>
                        </a:rPr>
                        <a:t>95.96%</a:t>
                      </a:r>
                      <a:endParaRPr lang="en-US" sz="7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700" b="1">
                          <a:effectLst/>
                        </a:rPr>
                        <a:t>0.88</a:t>
                      </a:r>
                      <a:endParaRPr lang="en-US" sz="7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700" b="1" dirty="0">
                          <a:effectLst/>
                        </a:rPr>
                        <a:t>0.91</a:t>
                      </a:r>
                      <a:endParaRPr lang="en-US" sz="7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—</a:t>
                      </a:r>
                      <a:endParaRPr lang="en-US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⚠️ PARTIALLY COMPARABLE </a:t>
                      </a:r>
                      <a:r>
                        <a:rPr lang="en-US" sz="700" dirty="0">
                          <a:effectLst/>
                        </a:rPr>
                        <a:t>Uses </a:t>
                      </a:r>
                      <a:r>
                        <a:rPr lang="en-US" sz="700" dirty="0" err="1">
                          <a:effectLst/>
                        </a:rPr>
                        <a:t>FracAtlas</a:t>
                      </a:r>
                      <a:r>
                        <a:rPr lang="en-US" sz="700" dirty="0">
                          <a:effectLst/>
                        </a:rPr>
                        <a:t> with the correct class imbalance (717 fractured) but deviates from official splits and uses a custom-designed CNN rather than transfer learning.  ⚠ Critical limitations: • Custom CNN at 128×128 input — coarser features, different architecture family • No official </a:t>
                      </a:r>
                      <a:r>
                        <a:rPr lang="en-US" sz="700" dirty="0" err="1">
                          <a:effectLst/>
                        </a:rPr>
                        <a:t>val</a:t>
                      </a:r>
                      <a:r>
                        <a:rPr lang="en-US" sz="700" dirty="0">
                          <a:effectLst/>
                        </a:rPr>
                        <a:t> split — 80/20 train/test only, no hyperparameter tuning on held-out </a:t>
                      </a:r>
                      <a:r>
                        <a:rPr lang="en-US" sz="700" dirty="0" err="1">
                          <a:effectLst/>
                        </a:rPr>
                        <a:t>val</a:t>
                      </a:r>
                      <a:r>
                        <a:rPr lang="en-US" sz="700" dirty="0">
                          <a:effectLst/>
                        </a:rPr>
                        <a:t> • Transfer learning models (ResNet50, EfficientNetB0) only trained for 5 epochs — severely undertrained, explaining their poor F1 (0.28–0.36 vs our 0.63) • No AUC reported  Important finding supportive of our thesis: their ResNet50 transfer learning scored F1=0.36 with only 5 epochs and no class weighting — directly comparable to our E1 baseline (F1=0.53 with frozen backbone). </a:t>
                      </a:r>
                      <a:r>
                        <a:rPr lang="en-US" sz="700" dirty="0">
                          <a:effectLst/>
                          <a:highlight>
                            <a:srgbClr val="FFFF00"/>
                          </a:highlight>
                        </a:rPr>
                        <a:t>Our full fine-tuning + class weighting pipeline significantly outperforms their transfer learning setup</a:t>
                      </a:r>
                      <a:r>
                        <a:rPr lang="en-US" sz="700" dirty="0">
                          <a:effectLst/>
                        </a:rPr>
                        <a:t>.</a:t>
                      </a:r>
                      <a:endParaRPr lang="en-US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2607" marR="52607" marT="42085" marB="42085"/>
                </a:tc>
                <a:extLst>
                  <a:ext uri="{0D108BD9-81ED-4DB2-BD59-A6C34878D82A}">
                    <a16:rowId xmlns:a16="http://schemas.microsoft.com/office/drawing/2014/main" val="2024854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2669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SOTA Analysis — Critical Findings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3949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high-accuracy numbers in the literature need scrutiny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Week 5–6  |  March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960120"/>
            <a:ext cx="8823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4592" y="960120"/>
            <a:ext cx="64008" cy="7498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014984"/>
            <a:ext cx="8577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8F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Only Ruhi et al. (2024) is truly comparable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2608" y="1252728"/>
            <a:ext cx="8577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dataset, official splits, image-level labels, 224×224. But they report Prec=Recall=F1=0.9057 likely macro-averaged. No AUC reported. Our per-class Fractured F1=62.71% is a strictly harder and clinically honest metric.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4592" y="1764792"/>
            <a:ext cx="8823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64592" y="1764792"/>
            <a:ext cx="64008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2608" y="1819656"/>
            <a:ext cx="8577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82.4% accuracy is achievable by predicting nothing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2608" y="2057400"/>
            <a:ext cx="8577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FracAtlas, 82.4% of images are Non-Fractured. A model that always predicts Non-Fractured gets 82.4% accuracy with zero clinical value. Papers showing 95–97% accuracy without reporting F1 on the fractured class are likely not solving the hard part.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4592" y="2569464"/>
            <a:ext cx="8823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64592" y="2569464"/>
            <a:ext cx="64008" cy="7498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2608" y="2624328"/>
            <a:ext cx="8577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Transfer learning failure validates our approach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92608" y="2862072"/>
            <a:ext cx="8577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et al. trained ResNet50/EfficientNetB0 for only 5 epochs → F1=0.28–0.36. Our E1 frozen backbone baseline reached F1=0.53. Our full fine-tuning + class weighting + threshold optimisation pipeline (F1=0.627) substantially outperforms their transfer learning setup.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4592" y="3374136"/>
            <a:ext cx="8823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64592" y="3374136"/>
            <a:ext cx="64008" cy="7498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2608" y="3429000"/>
            <a:ext cx="8577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7A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AUC is our strongest cross-paper argument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92608" y="3666744"/>
            <a:ext cx="8577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the only paper in this table that reports AUC (86.14%). AUC is threshold-independent and class-imbalance robust. The improvement from 0.857 (E3) to 0.861 (final) confirms genuine model improvement regardless of threshold choices.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4592" y="4178808"/>
            <a:ext cx="8823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64592" y="4178808"/>
            <a:ext cx="64008" cy="7498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92608" y="4233672"/>
            <a:ext cx="8577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34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Recall reduction is intentional and documented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92608" y="4471416"/>
            <a:ext cx="8577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had Recall=77% but F1=57.7% — a precision disaster. The Week 5 directive was to maximise F1. Our final model (Recall=60.7%, Precision=64.9%) is properly balanced. AUC improvement confirms this is not a capability regression.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91440" cy="109728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 &amp; Recommendations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Classification to Explainability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Week 5–6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8719"/>
            <a:ext cx="859536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 —</a:t>
            </a:r>
            <a:r>
              <a:rPr lang="tr-TR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Based on SOTA &amp; Current Status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53949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final model roadmap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Week 5–6  |  March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960120"/>
            <a:ext cx="4297680" cy="1234440"/>
          </a:xfrm>
          <a:prstGeom prst="rect">
            <a:avLst/>
          </a:prstGeom>
          <a:solidFill>
            <a:srgbClr val="D5F5E3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4592" y="960120"/>
            <a:ext cx="64008" cy="123444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024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8F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Stronger Backbone &amp; Architecture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" y="12801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[Near Term]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" y="1435608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ResNet-50 or EfficientNetB0 with proper fine-tuning (unlike Hassan et al.'s 5-epoch attempt). Our RTX 3060 can handle these. EfficientNetB0 with 20+ epochs + class weighting likely achieves F1&gt;0.65.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960120"/>
            <a:ext cx="4297680" cy="1234440"/>
          </a:xfrm>
          <a:prstGeom prst="rect">
            <a:avLst/>
          </a:prstGeom>
          <a:solidFill>
            <a:srgbClr val="D6EAF8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45152" y="960120"/>
            <a:ext cx="64008" cy="1234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73168" y="1024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Attention Mechanisms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73168" y="12801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[Near Term]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73168" y="1435608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Ruhi et al. show InceptionV3+BAM reaches 90% accuracy. Applying BAM or CBAM on top of our ResNet-18/50 backbone could improve minority class feature discrimination without changing the training pipeline significantly.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64592" y="2276856"/>
            <a:ext cx="4297680" cy="1234440"/>
          </a:xfrm>
          <a:prstGeom prst="rect">
            <a:avLst/>
          </a:prstGeom>
          <a:solidFill>
            <a:srgbClr val="F4ECF7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64592" y="2276856"/>
            <a:ext cx="64008" cy="12344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2608" y="23408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4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🗺️ Localisation — Grad-CAM++ / Score-CAM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" y="25968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[XAI Pillar 1]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92608" y="2752344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 baseline done. Upgrade to GradCAM++ for sharper heatmaps. Add LIME for per-region attribution. This forms the 'Attributes' pillar of the XAI three-pillar system: Where does the model look?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45152" y="2276856"/>
            <a:ext cx="4297680" cy="1234440"/>
          </a:xfrm>
          <a:prstGeom prst="rect">
            <a:avLst/>
          </a:prstGeom>
          <a:solidFill>
            <a:srgbClr val="FEF9E7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45152" y="2276856"/>
            <a:ext cx="64008" cy="1234440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73168" y="23408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84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Example-Based: Prototypes &amp; Counterfactuals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25968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8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[XAI Pillar 2]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73168" y="2752344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clinicians: 'This X-ray was classified as fractured because it looks most similar to these training examples.' Counterfactual: 'What would need to change to flip the prediction?' Planned post-model phase.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64592" y="3593592"/>
            <a:ext cx="4297680" cy="1234440"/>
          </a:xfrm>
          <a:prstGeom prst="rect">
            <a:avLst/>
          </a:prstGeom>
          <a:solidFill>
            <a:srgbClr val="FADBD8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64592" y="3593592"/>
            <a:ext cx="6400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92608" y="36576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📏 Segmentation &amp; Severity Assessment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2608" y="39136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[XAI Pillar 3]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92608" y="4069080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FracAtlas provides segmentation masks. Use them to train a severity classifier (hairline vs displaced vs comminuted). This aligns with thesis long-term goal: Computer-Aided Diagnosis rather than binary classification.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45152" y="3593592"/>
            <a:ext cx="4297680" cy="1234440"/>
          </a:xfrm>
          <a:prstGeom prst="rect">
            <a:avLst/>
          </a:prstGeom>
          <a:solidFill>
            <a:srgbClr val="D6EAF8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45152" y="3593592"/>
            <a:ext cx="64008" cy="12344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73168" y="36576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🏥 External Validation &amp; Image Quality Assessment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73168" y="39136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[Validation]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73168" y="4069080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MURA (humerus) and GRAZPEDWRI to test generalisation. Add an Image Quality Assessment module — poor quality X-rays should be flagged before classification, not silently misclassified.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FB3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5–6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is built. </a:t>
            </a:r>
            <a:r>
              <a:rPr lang="tr-TR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97480" cy="3566160"/>
          </a:xfrm>
          <a:prstGeom prst="rect">
            <a:avLst/>
          </a:prstGeom>
          <a:solidFill>
            <a:srgbClr val="13223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8F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514600" cy="3017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6 systematic experiments (E4a/i/e/h/g2/f)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class weight rebalancing as key driver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F1=62.71% (+5.01 pts over baseline)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overfitting gap: 0.27→0.14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GradCAM as first XAI checkpoint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full SOTA literature comparison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697480" cy="3566160"/>
          </a:xfrm>
          <a:prstGeom prst="rect">
            <a:avLst/>
          </a:prstGeom>
          <a:solidFill>
            <a:srgbClr val="13223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371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8F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Found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737360"/>
            <a:ext cx="2514600" cy="3017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&gt; Focal Loss on small imbalanced data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warmup &gt; ReduceLROnPlateau for stability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optimisation = 'free' +2.8 F1 pts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TTA: not beneficial for this task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Ruhi et al. (2024) is truly comparable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is the most defensible cross-paper metric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325880"/>
            <a:ext cx="2697480" cy="3566160"/>
          </a:xfrm>
          <a:prstGeom prst="rect">
            <a:avLst/>
          </a:prstGeom>
          <a:solidFill>
            <a:srgbClr val="13223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1371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8F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737360"/>
            <a:ext cx="2514600" cy="3017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backbone (ResNet-50 / EfficientNet)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mechanisms (BAM/CBAM)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GradCAM++ for sharper localisation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Prototype/counterfactual explanations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+ severity assessment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dataset validation</a:t>
            </a:r>
            <a:endParaRPr lang="tr-TR" sz="1050" dirty="0">
              <a:solidFill>
                <a:srgbClr val="AED6F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tr-TR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Hyper parameter tune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9377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Week 5–6  |  March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3527</Words>
  <Application>Microsoft Office PowerPoint</Application>
  <PresentationFormat>On-screen Show (16:9)</PresentationFormat>
  <Paragraphs>432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5-6: Final CNN Model — Bone Fracture Detection</dc:title>
  <dc:subject>PptxGenJS Presentation</dc:subject>
  <dc:creator>PptxGenJS</dc:creator>
  <cp:lastModifiedBy>Onur Can</cp:lastModifiedBy>
  <cp:revision>17</cp:revision>
  <dcterms:created xsi:type="dcterms:W3CDTF">2026-03-12T08:49:38Z</dcterms:created>
  <dcterms:modified xsi:type="dcterms:W3CDTF">2026-03-12T11:08:13Z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d5a0de8-b827-4bc9-a670-fb2527f18a84_Enabled">
    <vt:lpwstr>true</vt:lpwstr>
  </property>
  <property fmtid="{D5CDD505-2E9C-101B-9397-08002B2CF9AE}" pid="3" name="MSIP_Label_7d5a0de8-b827-4bc9-a670-fb2527f18a84_SetDate">
    <vt:lpwstr>2026-03-12T10:02:50Z</vt:lpwstr>
  </property>
  <property fmtid="{D5CDD505-2E9C-101B-9397-08002B2CF9AE}" pid="4" name="MSIP_Label_7d5a0de8-b827-4bc9-a670-fb2527f18a84_Method">
    <vt:lpwstr>Privileged</vt:lpwstr>
  </property>
  <property fmtid="{D5CDD505-2E9C-101B-9397-08002B2CF9AE}" pid="5" name="MSIP_Label_7d5a0de8-b827-4bc9-a670-fb2527f18a84_Name">
    <vt:lpwstr>Kamuya Açık</vt:lpwstr>
  </property>
  <property fmtid="{D5CDD505-2E9C-101B-9397-08002B2CF9AE}" pid="6" name="MSIP_Label_7d5a0de8-b827-4bc9-a670-fb2527f18a84_SiteId">
    <vt:lpwstr>8d43ffbc-a57a-4d9e-8505-d5f18d7eac9b</vt:lpwstr>
  </property>
  <property fmtid="{D5CDD505-2E9C-101B-9397-08002B2CF9AE}" pid="7" name="MSIP_Label_7d5a0de8-b827-4bc9-a670-fb2527f18a84_ActionId">
    <vt:lpwstr>60078063-2e71-4183-a9a6-1abd84cc6343</vt:lpwstr>
  </property>
  <property fmtid="{D5CDD505-2E9C-101B-9397-08002B2CF9AE}" pid="8" name="MSIP_Label_7d5a0de8-b827-4bc9-a670-fb2527f18a84_ContentBits">
    <vt:lpwstr>0</vt:lpwstr>
  </property>
  <property fmtid="{D5CDD505-2E9C-101B-9397-08002B2CF9AE}" pid="9" name="MSIP_Label_7d5a0de8-b827-4bc9-a670-fb2527f18a84_Tag">
    <vt:lpwstr>10, 0, 1, 1</vt:lpwstr>
  </property>
</Properties>
</file>