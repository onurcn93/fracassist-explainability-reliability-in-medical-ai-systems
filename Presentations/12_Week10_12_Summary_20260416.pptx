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229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1F18C-2AC6-EAFB-EF18-91741975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D77AD-0443-7C67-CD15-A12EF2E99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8CCA6-F1B5-97FA-58E2-2A238276E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4303A-9C8B-61C9-B2DB-4FC845430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663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</a:t>
            </a:r>
            <a:r>
              <a:rPr lang="tr-TR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3995" y="1017448"/>
            <a:ext cx="8247888" cy="20327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</a:t>
            </a:r>
            <a:endParaRPr lang="tr-TR" sz="4400" b="1" u="sng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Ablation </a:t>
            </a:r>
            <a:endParaRPr lang="tr-TR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Writing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2283" y="5361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Systems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04468"/>
            <a:ext cx="192024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362334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38519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51760" y="3504468"/>
            <a:ext cx="192024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61488" y="362334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24912" y="38519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3504468"/>
            <a:ext cx="192024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362334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1-1 </a:t>
            </a: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mAP@0.5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38519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0.536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0" y="3504468"/>
            <a:ext cx="192024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67728" y="362334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 Introduction</a:t>
            </a:r>
          </a:p>
          <a:p>
            <a:pPr marL="0" indent="0" algn="ctr">
              <a:buNone/>
            </a:pPr>
            <a:r>
              <a:rPr lang="tr-TR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Approach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31152" y="38519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Apr – 19 Apr 2026  ·  Supervisor Meeting: </a:t>
            </a:r>
            <a:r>
              <a:rPr lang="tr-TR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.04.2026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 RECAP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372766"/>
              </p:ext>
            </p:extLst>
          </p:nvPr>
        </p:nvGraphicFramePr>
        <p:xfrm>
          <a:off x="365760" y="640080"/>
          <a:ext cx="8412480" cy="3730752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1–2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Jan–Feb 2026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Dataset: FracAtlas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Lit review. Metric: F1 (Fractured). Imbalance 4.69:1.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3–4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Baseline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ResNet-18.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F1=57.7%, Recall=77%, AUC=0.857. Overfitting gap 0.27.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5–6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E4e Final: F1=65.81%, Recall=64.66%, Acc=88.75%, AUC=0.8884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GradCAM applied. SOTA complete.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7–9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Mar–Apr 2026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Phase (Y0B–Y4). Best: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Y1B YOLOv8s 200ep AdamW. mAP@0.5=0.651 (+8.9pp vs paper). ✅ APPROVED.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10–1</a:t>
                      </a:r>
                      <a:r>
                        <a:rPr lang="tr-TR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FracAssist deployed (Flask+UI). </a:t>
                      </a:r>
                      <a:endParaRPr lang="tr-TR" sz="110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Y5 ablation run. </a:t>
                      </a:r>
                      <a:endParaRPr lang="tr-TR" sz="1100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 1 writing started. ← 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10–1</a:t>
            </a:r>
            <a:r>
              <a:rPr lang="tr-T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502920" cy="749808"/>
          </a:xfrm>
          <a:prstGeom prst="rect">
            <a:avLst/>
          </a:prstGeom>
          <a:solidFill>
            <a:srgbClr val="0A3D35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7315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Inference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4241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+ ResNet-18 selective cascade. Confidence + box overlay output.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0" y="859536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082D2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0" y="8595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99616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499616"/>
            <a:ext cx="502920" cy="749808"/>
          </a:xfrm>
          <a:prstGeom prst="rect">
            <a:avLst/>
          </a:prstGeom>
          <a:solidFill>
            <a:srgbClr val="0A3D35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7007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57276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Web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88366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+ dark-theme frontend. GradCAM toggle, model health tab.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700784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082D2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17007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40864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340864"/>
            <a:ext cx="502920" cy="749808"/>
          </a:xfrm>
          <a:prstGeom prst="rect">
            <a:avLst/>
          </a:prstGeom>
          <a:solidFill>
            <a:srgbClr val="0A3D35"/>
          </a:solidFill>
          <a:ln w="1905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41401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YOLO + ResNet-18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7249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YOLO-led when box detected; ResNet-led fallback. GradCAM always generated.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542032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082D27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254203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182112"/>
            <a:ext cx="502920" cy="749808"/>
          </a:xfrm>
          <a:prstGeom prst="rect">
            <a:avLst/>
          </a:prstGeom>
          <a:solidFill>
            <a:srgbClr val="0A3D35"/>
          </a:solidFill>
          <a:ln w="1905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383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25526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Ablation — 1:1 Negative Ratio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5661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 frac + 635 non-frac. Isolates negative sampling variable. FP rate on healthy images.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338328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082D27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9440" y="33832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502920" cy="749808"/>
          </a:xfrm>
          <a:prstGeom prst="rect">
            <a:avLst/>
          </a:prstGeom>
          <a:solidFill>
            <a:srgbClr val="0A3D35"/>
          </a:solidFill>
          <a:ln w="19050">
            <a:solidFill>
              <a:srgbClr val="8BA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2245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40965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Chapter 1 Writing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440740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 + DL in medical imaging. Intro figures created.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4224528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082D27"/>
          </a:solidFill>
          <a:ln w="12700">
            <a:solidFill>
              <a:srgbClr val="8BA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49440" y="42245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/ O2 / O3 — FracAssist: Deployable Clinical Decision Support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897880" y="621792"/>
            <a:ext cx="310896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6675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YOLO-LED path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97880" y="9692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detected → fracture confirmed + overlay shown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97880" y="1399032"/>
            <a:ext cx="310896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14447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CLASSIFIER-LED path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7465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box → ResNet-18 probability + GradCAM heatmap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97880" y="2176272"/>
            <a:ext cx="310896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97880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GradCAM always 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5237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 generated on ResNet branch for every case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97880" y="2953512"/>
            <a:ext cx="310896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97880" y="29992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Model Health tab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3009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F1/AUC/threshold display; both models tracked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97880" y="3730752"/>
            <a:ext cx="310896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97880" y="37764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Clinical disclaimer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40782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prediction supports radiologist review."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35131" y="4774837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 ·  Frontend: HTML/JS/CSS  ·  Runs locally on GPU  ·  No data leaves machine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F623141-70B0-5B25-E763-65D3ECFBC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" y="694604"/>
            <a:ext cx="5818117" cy="3625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6794" y="233019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— Model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</a:t>
            </a:r>
            <a:r>
              <a:rPr lang="tr-T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400" dirty="0"/>
          </a:p>
        </p:txBody>
      </p:sp>
      <p:pic>
        <p:nvPicPr>
          <p:cNvPr id="4" name="Image 0" descr="/home/claude/o1_modelheal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168" y="645000"/>
            <a:ext cx="6524538" cy="30843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52706" y="353076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LOGIC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859"/>
              </p:ext>
            </p:extLst>
          </p:nvPr>
        </p:nvGraphicFramePr>
        <p:xfrm>
          <a:off x="476794" y="3857934"/>
          <a:ext cx="8190412" cy="1065519"/>
        </p:xfrm>
        <a:graphic>
          <a:graphicData uri="http://schemas.openxmlformats.org/drawingml/2006/table">
            <a:tbl>
              <a:tblPr/>
              <a:tblGrid>
                <a:gridCol w="4095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7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box ≥ 0.25 conf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YOLO-LED</a:t>
                      </a:r>
                      <a:r>
                        <a:rPr lang="tr-TR" sz="10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overlay + YOLO 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YOLO 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CLASSIFIER-LED</a:t>
                      </a:r>
                      <a:r>
                        <a:rPr lang="tr-TR" sz="10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prob + GradCAM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GradCAM (always)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layer4[−1] hook</a:t>
                      </a:r>
                      <a:r>
                        <a:rPr lang="tr-TR" sz="10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alpha=0.4 heatmap overlay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DD933-29B9-AA34-2834-36777A6A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D02D2A-BBE2-3B71-E838-4E494878FF5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D4D634-E44A-9B28-E12B-450208B7D5F4}"/>
              </a:ext>
            </a:extLst>
          </p:cNvPr>
          <p:cNvSpPr/>
          <p:nvPr/>
        </p:nvSpPr>
        <p:spPr>
          <a:xfrm>
            <a:off x="457200" y="251461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FracAssist —</a:t>
            </a:r>
            <a:r>
              <a:rPr kumimoji="0" lang="tr-T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Config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1" descr="/home/claude/o1_config.png">
            <a:extLst>
              <a:ext uri="{FF2B5EF4-FFF2-40B4-BE49-F238E27FC236}">
                <a16:creationId xmlns:a16="http://schemas.microsoft.com/office/drawing/2014/main" id="{940CAEE8-B03A-F5E9-2565-651619AEB6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177" y="705195"/>
            <a:ext cx="7022676" cy="261754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8F1B4267-8ABA-8AE0-DC58-43EF1FC7F000}"/>
              </a:ext>
            </a:extLst>
          </p:cNvPr>
          <p:cNvSpPr/>
          <p:nvPr/>
        </p:nvSpPr>
        <p:spPr>
          <a:xfrm>
            <a:off x="1965960" y="4115127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CONFIG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53285D6A-0363-A1C6-B44A-83ADC29B83B6}"/>
              </a:ext>
            </a:extLst>
          </p:cNvPr>
          <p:cNvSpPr/>
          <p:nvPr/>
        </p:nvSpPr>
        <p:spPr>
          <a:xfrm>
            <a:off x="3886200" y="3758184"/>
            <a:ext cx="16459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28FF9C8-CC24-797F-4DF3-902582078FED}"/>
              </a:ext>
            </a:extLst>
          </p:cNvPr>
          <p:cNvSpPr/>
          <p:nvPr/>
        </p:nvSpPr>
        <p:spPr>
          <a:xfrm>
            <a:off x="3931920" y="37856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BA3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YOLO conf threshold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D24E940-FE00-D2E4-D86C-6E1D35B34C58}"/>
              </a:ext>
            </a:extLst>
          </p:cNvPr>
          <p:cNvSpPr/>
          <p:nvPr/>
        </p:nvSpPr>
        <p:spPr>
          <a:xfrm>
            <a:off x="3931920" y="39776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D349AEB-9A87-B13B-DA0A-7AAA84E8F3F3}"/>
              </a:ext>
            </a:extLst>
          </p:cNvPr>
          <p:cNvSpPr/>
          <p:nvPr/>
        </p:nvSpPr>
        <p:spPr>
          <a:xfrm>
            <a:off x="3886200" y="4297680"/>
            <a:ext cx="16459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D791466-F843-F07D-499F-9091836CBAD2}"/>
              </a:ext>
            </a:extLst>
          </p:cNvPr>
          <p:cNvSpPr/>
          <p:nvPr/>
        </p:nvSpPr>
        <p:spPr>
          <a:xfrm>
            <a:off x="3931920" y="432511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BA3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ResNet-18 threshold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2995E5E-97CD-8C42-224E-1C95A1294167}"/>
              </a:ext>
            </a:extLst>
          </p:cNvPr>
          <p:cNvSpPr/>
          <p:nvPr/>
        </p:nvSpPr>
        <p:spPr>
          <a:xfrm>
            <a:off x="3931920" y="45171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0.425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9669EA0B-02F5-F8D2-2C6C-59118524DB47}"/>
              </a:ext>
            </a:extLst>
          </p:cNvPr>
          <p:cNvSpPr/>
          <p:nvPr/>
        </p:nvSpPr>
        <p:spPr>
          <a:xfrm>
            <a:off x="5577840" y="3758184"/>
            <a:ext cx="16459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AE3C3E2F-A04E-A773-23F9-095635A97F1F}"/>
              </a:ext>
            </a:extLst>
          </p:cNvPr>
          <p:cNvSpPr/>
          <p:nvPr/>
        </p:nvSpPr>
        <p:spPr>
          <a:xfrm>
            <a:off x="5577840" y="37764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BA3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YOLO imgsz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F71ACE2-18F0-C733-1AEB-3D187974DC16}"/>
              </a:ext>
            </a:extLst>
          </p:cNvPr>
          <p:cNvSpPr/>
          <p:nvPr/>
        </p:nvSpPr>
        <p:spPr>
          <a:xfrm>
            <a:off x="5577840" y="39684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600 × 600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6844997E-8731-389E-6B02-5230810F7CB7}"/>
              </a:ext>
            </a:extLst>
          </p:cNvPr>
          <p:cNvSpPr/>
          <p:nvPr/>
        </p:nvSpPr>
        <p:spPr>
          <a:xfrm>
            <a:off x="7269480" y="3749040"/>
            <a:ext cx="16459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A7251E7-6C1C-9B16-734A-84CC44A99BFF}"/>
              </a:ext>
            </a:extLst>
          </p:cNvPr>
          <p:cNvSpPr/>
          <p:nvPr/>
        </p:nvSpPr>
        <p:spPr>
          <a:xfrm>
            <a:off x="7315200" y="37764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BA3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ResNet input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ED9A29B-BC28-1F2F-8F83-E41F6D4CCD8B}"/>
              </a:ext>
            </a:extLst>
          </p:cNvPr>
          <p:cNvSpPr/>
          <p:nvPr/>
        </p:nvSpPr>
        <p:spPr>
          <a:xfrm>
            <a:off x="7315200" y="39684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401530D4-20B6-F3E5-F22F-70214A45D23C}"/>
              </a:ext>
            </a:extLst>
          </p:cNvPr>
          <p:cNvSpPr/>
          <p:nvPr/>
        </p:nvSpPr>
        <p:spPr>
          <a:xfrm>
            <a:off x="5577840" y="4297680"/>
            <a:ext cx="16459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2093595-6956-7F9D-8224-53009FF8F08B}"/>
              </a:ext>
            </a:extLst>
          </p:cNvPr>
          <p:cNvSpPr/>
          <p:nvPr/>
        </p:nvSpPr>
        <p:spPr>
          <a:xfrm>
            <a:off x="5623560" y="432511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BA3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GradCAM layer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E4E5725B-EFB4-B2FA-D3E3-F048A4B6F9F3}"/>
              </a:ext>
            </a:extLst>
          </p:cNvPr>
          <p:cNvSpPr/>
          <p:nvPr/>
        </p:nvSpPr>
        <p:spPr>
          <a:xfrm>
            <a:off x="5623560" y="45171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layer4[−1]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FAE5CA0E-5DDC-FEDA-8FF6-CD28DB913656}"/>
              </a:ext>
            </a:extLst>
          </p:cNvPr>
          <p:cNvSpPr/>
          <p:nvPr/>
        </p:nvSpPr>
        <p:spPr>
          <a:xfrm>
            <a:off x="7269480" y="4297680"/>
            <a:ext cx="164592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B164BA5F-85E2-6CF2-1479-6E39B8E3EF20}"/>
              </a:ext>
            </a:extLst>
          </p:cNvPr>
          <p:cNvSpPr/>
          <p:nvPr/>
        </p:nvSpPr>
        <p:spPr>
          <a:xfrm>
            <a:off x="7315200" y="432511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BA3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C2A347D7-EDFD-7544-D4DC-C012A988ADD1}"/>
              </a:ext>
            </a:extLst>
          </p:cNvPr>
          <p:cNvSpPr/>
          <p:nvPr/>
        </p:nvSpPr>
        <p:spPr>
          <a:xfrm>
            <a:off x="7315200" y="45171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7203249-AFD0-CB7A-F83C-61E418A358CA}"/>
              </a:ext>
            </a:extLst>
          </p:cNvPr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43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— Y5 Ablation: 1:1 Negative Sampling (Negative Result — Valid Thesis Finding)</a:t>
            </a:r>
            <a:endParaRPr lang="en-US" sz="1400" dirty="0"/>
          </a:p>
        </p:txBody>
      </p:sp>
      <p:pic>
        <p:nvPicPr>
          <p:cNvPr id="4" name="Image 0" descr="/home/claude/curves_Y5_detect_YOLOv8s_detect_epochs200_imgsz60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53035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621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vs Y5 COMPARISON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932688"/>
          <a:ext cx="3246120" cy="1920240"/>
        </p:xfrm>
        <a:graphic>
          <a:graphicData uri="http://schemas.openxmlformats.org/drawingml/2006/table">
            <a:tbl>
              <a:tblPr/>
              <a:tblGrid>
                <a:gridCol w="81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Y1B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Y5 (1:1)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5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5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mAP50-95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2971800"/>
            <a:ext cx="3246120" cy="960120"/>
          </a:xfrm>
          <a:prstGeom prst="rect">
            <a:avLst/>
          </a:prstGeom>
          <a:solidFill>
            <a:srgbClr val="2A0A0C"/>
          </a:solidFill>
          <a:ln w="19050">
            <a:solidFill>
              <a:srgbClr val="E8505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806440" y="303580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NEGATIVE RESULT — VALID THESIS FINDING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806440" y="33101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negatives = lower mAP50. Monotonic degradation: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Y0C (1:6) = 0.29 → Y5 (1:1) = 0.536 → Y1B (0:1) = 0.651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Fractured-only training optimal for this dataset.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0040" y="3291840"/>
            <a:ext cx="5257800" cy="1554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33649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363931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setup: 635 fractured + 635 non-fractured (seed=42), Y1B config.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early stops at epoch 143 vs Y1B at 200 — negatives disrupt convergence.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remains approved best detect model. FP rate on healthy images: to be reported.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gap closed — full ratio sweep documented in thesis.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— Thesis Writing: Chapter 1 Introduction (In Progress)</a:t>
            </a:r>
            <a:endParaRPr lang="en-US" sz="1600" dirty="0"/>
          </a:p>
        </p:txBody>
      </p:sp>
      <p:pic>
        <p:nvPicPr>
          <p:cNvPr id="4" name="Image 0" descr="/home/claude/o5_Intro_Img__1_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4114800" cy="2286000"/>
          </a:xfrm>
          <a:prstGeom prst="rect">
            <a:avLst/>
          </a:prstGeom>
        </p:spPr>
      </p:pic>
      <p:pic>
        <p:nvPicPr>
          <p:cNvPr id="5" name="Image 1" descr="/home/claude/o5_Intro_Img__2_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594360"/>
            <a:ext cx="429768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3017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STRUCTURE — LOCKED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20040" y="3337560"/>
            <a:ext cx="411480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33741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Clinical Context &amp; Problem Statement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337560" y="337413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Draft complete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0040" y="3675888"/>
            <a:ext cx="411480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37124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Deep Learning in Medical Imaging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337560" y="3712464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Draft complete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0040" y="4014216"/>
            <a:ext cx="411480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57200" y="40507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The Explainability Gap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37560" y="4050792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In progress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0040" y="4352544"/>
            <a:ext cx="411480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57200" y="43891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Research Objectives &amp; Scope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37560" y="438912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Pending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0040" y="4690872"/>
            <a:ext cx="411480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57200" y="472744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Thesis Structure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37560" y="4727448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Pending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72000" y="301752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CONTENT — 1.1 &amp; 1.2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0" y="3337560"/>
            <a:ext cx="201168" cy="201168"/>
          </a:xfrm>
          <a:prstGeom prst="rect">
            <a:avLst/>
          </a:prstGeom>
          <a:solidFill>
            <a:srgbClr val="0D4F4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572000" y="3337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28032" y="3346704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178M new fractures annually — global clinical burden established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572000" y="3593592"/>
            <a:ext cx="201168" cy="201168"/>
          </a:xfrm>
          <a:prstGeom prst="rect">
            <a:avLst/>
          </a:prstGeom>
          <a:solidFill>
            <a:srgbClr val="0D4F4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572000" y="3593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28032" y="3602736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fracture rates 1–35% depending on region &amp; clinician fatigue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572000" y="3849624"/>
            <a:ext cx="201168" cy="201168"/>
          </a:xfrm>
          <a:prstGeom prst="rect">
            <a:avLst/>
          </a:prstGeom>
          <a:solidFill>
            <a:srgbClr val="0D4F4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572000" y="38496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828032" y="3858768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Kahramanmaraş earthquake: mass-casualty AI context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572000" y="4105656"/>
            <a:ext cx="201168" cy="201168"/>
          </a:xfrm>
          <a:prstGeom prst="rect">
            <a:avLst/>
          </a:prstGeom>
          <a:solidFill>
            <a:srgbClr val="0D4F4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572000" y="41056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28032" y="4114800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teacher model for junior surgeons and medical students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572000" y="4361688"/>
            <a:ext cx="201168" cy="201168"/>
          </a:xfrm>
          <a:prstGeom prst="rect">
            <a:avLst/>
          </a:prstGeom>
          <a:solidFill>
            <a:srgbClr val="0D4F4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572000" y="43616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828032" y="4370832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Transfer Learning → YOLO → Segmentation field map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572000" y="4617720"/>
            <a:ext cx="201168" cy="201168"/>
          </a:xfrm>
          <a:prstGeom prst="rect">
            <a:avLst/>
          </a:prstGeom>
          <a:solidFill>
            <a:srgbClr val="0D4F43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572000" y="46177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4828032" y="4626864"/>
            <a:ext cx="4087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limitation: accuracy without interpretability ≠ clinical use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709162" y="4821174"/>
            <a:ext cx="40690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 presented separately. Intro figures created for Chapter 1.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</a:t>
            </a:r>
            <a:r>
              <a:rPr lang="tr-TR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Sample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Methodological Evolution of Fracture Detection</a:t>
            </a:r>
            <a:endParaRPr lang="en-US" sz="1600" dirty="0"/>
          </a:p>
        </p:txBody>
      </p:sp>
      <p:pic>
        <p:nvPicPr>
          <p:cNvPr id="4" name="Image 0" descr="/home/claude/o5_intro_img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594360"/>
            <a:ext cx="85953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2803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created for thesis Chapter 1 — positions this work as the Evidence-Based AI phase (2023–present)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 &amp; Novelty Roadmap</a:t>
            </a:r>
            <a:r>
              <a:rPr lang="tr-T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8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r>
              <a:rPr lang="tr-T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20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(CAALMIX) &lt;&lt;</a:t>
            </a:r>
            <a:endParaRPr lang="en-US" sz="1800" b="1" dirty="0">
              <a:solidFill>
                <a:srgbClr val="92D05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64160" y="658368"/>
            <a:ext cx="85140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4160" y="658368"/>
            <a:ext cx="741680" cy="7498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7315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Limited Adaptive Histogram Equalization (CLAHE)</a:t>
            </a: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Novelty Approach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04241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Domain-motivated X-ray enhancement. Albumentations.CLAHE(). FracAtlas paper used no preprocessing — this is a clean technical contribution.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95160" y="877824"/>
            <a:ext cx="1691640" cy="301752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95160" y="877824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99616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4160" y="1499616"/>
            <a:ext cx="741680" cy="7498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7282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Y1B-TTA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57276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883664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retraining. augment=True at inference. Avg over 3–5 flipped/scaled versions. Expected +1–3pp mAP free.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5160" y="1719072"/>
            <a:ext cx="1691640" cy="301752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95160" y="1707642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40864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241401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AugMix Training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72491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against acquisition variability (different scanners/positioning). Available via Albumentations.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4160" y="3182112"/>
            <a:ext cx="741680" cy="749808"/>
          </a:xfrm>
          <a:prstGeom prst="rect">
            <a:avLst/>
          </a:prstGeom>
          <a:solidFill>
            <a:srgbClr val="000000"/>
          </a:solidFill>
          <a:ln w="1905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4160" y="3410712"/>
            <a:ext cx="74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55264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DenseNet-169 Ensemble Expansion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56616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selective ensemble beyond ResNet-18. Cited in FracAtlas paper as strong comparator. Supervisor-approved to try.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95160" y="3401568"/>
            <a:ext cx="1691640" cy="301752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95160" y="340156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64160" y="4023360"/>
            <a:ext cx="741680" cy="749808"/>
          </a:xfrm>
          <a:prstGeom prst="rect">
            <a:avLst/>
          </a:prstGeom>
          <a:solidFill>
            <a:srgbClr val="000000"/>
          </a:solidFill>
          <a:ln w="19050">
            <a:solidFill>
              <a:srgbClr val="8BA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251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409651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Pillars (Post-model)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" y="440740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CBM/Attributes  ·  Pillar 2: Prototypes  ·  Pillar 3: Counterfactuals. Pending supervisor approval to begin.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95160" y="4242816"/>
            <a:ext cx="1691640" cy="301752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12700">
            <a:solidFill>
              <a:srgbClr val="8BA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95160" y="4242816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Post-model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4A5A1FB0-1188-3BE8-E1D1-9EC4802A867F}"/>
              </a:ext>
            </a:extLst>
          </p:cNvPr>
          <p:cNvSpPr/>
          <p:nvPr/>
        </p:nvSpPr>
        <p:spPr>
          <a:xfrm>
            <a:off x="6995160" y="2555748"/>
            <a:ext cx="1691640" cy="301752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38293D8-E406-467A-CB22-A168EC664F2F}"/>
              </a:ext>
            </a:extLst>
          </p:cNvPr>
          <p:cNvSpPr/>
          <p:nvPr/>
        </p:nvSpPr>
        <p:spPr>
          <a:xfrm>
            <a:off x="6972300" y="2539746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</a:t>
            </a:r>
            <a:endParaRPr lang="en-US" sz="900" dirty="0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69AE3FD8-C3FC-0E0B-4E49-CCBC688823A0}"/>
              </a:ext>
            </a:extLst>
          </p:cNvPr>
          <p:cNvSpPr/>
          <p:nvPr/>
        </p:nvSpPr>
        <p:spPr>
          <a:xfrm>
            <a:off x="264160" y="2315718"/>
            <a:ext cx="741680" cy="7498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E8B0283E-96D7-C576-97CB-A6E061D0739F}"/>
              </a:ext>
            </a:extLst>
          </p:cNvPr>
          <p:cNvSpPr/>
          <p:nvPr/>
        </p:nvSpPr>
        <p:spPr>
          <a:xfrm>
            <a:off x="314960" y="2519087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tr-TR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&amp; Next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 — THIS 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FracAssist Flask inference system (predict.py)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11480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FracAssist dark-theme web UI (3 tabs: Assist / Health / Config)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411480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Selective ensemble: YOLO-LED + ResNet-18 fallback + GradCAM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411480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Y5 ablation completed — negative result documented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16352"/>
            <a:ext cx="411480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Y1B remains approved best detector (mAP@0.5 = 0.651)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411480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Chapter 1 writing started — 1.1 &amp; 1.2 drafted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30752"/>
            <a:ext cx="411480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 Chapter 1 intro figures created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6400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NEXT CYCLE PRIORITIES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87552"/>
            <a:ext cx="42519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Y6 — CLAHE Preprocessing run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44752"/>
            <a:ext cx="42519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Y1B-TTA — Test-Time Augmentation eval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901952"/>
            <a:ext cx="42519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1965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DenseNet-169 ensemble expansion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359152"/>
            <a:ext cx="42519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FP rate table: Y1B vs Y5 on healthy images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816352"/>
            <a:ext cx="42519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2880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Chapter 1: Section 1.3 (Explainability Gap)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73552"/>
            <a:ext cx="42519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Dataset Section (Ch. 3) — GRAZPEDWRI format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730752"/>
            <a:ext cx="42519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3794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Supervisor approval to begin XAI Pillars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1068</Words>
  <Application>Microsoft Office PowerPoint</Application>
  <PresentationFormat>On-screen Show (16:9)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Thesis — Week 11–12 Summary</dc:title>
  <dc:subject>PptxGenJS Presentation</dc:subject>
  <dc:creator>PptxGenJS</dc:creator>
  <cp:lastModifiedBy>Onur Can</cp:lastModifiedBy>
  <cp:revision>10</cp:revision>
  <dcterms:created xsi:type="dcterms:W3CDTF">2026-04-16T11:01:47Z</dcterms:created>
  <dcterms:modified xsi:type="dcterms:W3CDTF">2026-04-18T20:14:33Z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5a0de8-b827-4bc9-a670-fb2527f18a84_Enabled">
    <vt:lpwstr>true</vt:lpwstr>
  </property>
  <property fmtid="{D5CDD505-2E9C-101B-9397-08002B2CF9AE}" pid="3" name="MSIP_Label_7d5a0de8-b827-4bc9-a670-fb2527f18a84_SetDate">
    <vt:lpwstr>2026-04-16T11:03:28Z</vt:lpwstr>
  </property>
  <property fmtid="{D5CDD505-2E9C-101B-9397-08002B2CF9AE}" pid="4" name="MSIP_Label_7d5a0de8-b827-4bc9-a670-fb2527f18a84_Method">
    <vt:lpwstr>Privileged</vt:lpwstr>
  </property>
  <property fmtid="{D5CDD505-2E9C-101B-9397-08002B2CF9AE}" pid="5" name="MSIP_Label_7d5a0de8-b827-4bc9-a670-fb2527f18a84_Name">
    <vt:lpwstr>Kamuya Açık</vt:lpwstr>
  </property>
  <property fmtid="{D5CDD505-2E9C-101B-9397-08002B2CF9AE}" pid="6" name="MSIP_Label_7d5a0de8-b827-4bc9-a670-fb2527f18a84_SiteId">
    <vt:lpwstr>8d43ffbc-a57a-4d9e-8505-d5f18d7eac9b</vt:lpwstr>
  </property>
  <property fmtid="{D5CDD505-2E9C-101B-9397-08002B2CF9AE}" pid="7" name="MSIP_Label_7d5a0de8-b827-4bc9-a670-fb2527f18a84_ActionId">
    <vt:lpwstr>f1834714-542a-4f56-a8ae-cc6dfe4c9780</vt:lpwstr>
  </property>
  <property fmtid="{D5CDD505-2E9C-101B-9397-08002B2CF9AE}" pid="8" name="MSIP_Label_7d5a0de8-b827-4bc9-a670-fb2527f18a84_ContentBits">
    <vt:lpwstr>0</vt:lpwstr>
  </property>
  <property fmtid="{D5CDD505-2E9C-101B-9397-08002B2CF9AE}" pid="9" name="MSIP_Label_7d5a0de8-b827-4bc9-a670-fb2527f18a84_Tag">
    <vt:lpwstr>10, 0, 1, 1</vt:lpwstr>
  </property>
</Properties>
</file>