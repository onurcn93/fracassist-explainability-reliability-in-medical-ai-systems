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6" r:id="rId9"/>
    <p:sldId id="263" r:id="rId10"/>
    <p:sldId id="264" r:id="rId11"/>
    <p:sldId id="265" r:id="rId12"/>
    <p:sldId id="266" r:id="rId13"/>
    <p:sldId id="267" r:id="rId14"/>
    <p:sldId id="268" r:id="rId15"/>
    <p:sldId id="281" r:id="rId16"/>
    <p:sldId id="284" r:id="rId17"/>
    <p:sldId id="269" r:id="rId18"/>
    <p:sldId id="282" r:id="rId19"/>
    <p:sldId id="270" r:id="rId20"/>
    <p:sldId id="285" r:id="rId21"/>
    <p:sldId id="271" r:id="rId22"/>
    <p:sldId id="287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CAE4"/>
    <a:srgbClr val="00B4D8"/>
    <a:srgbClr val="152339"/>
    <a:srgbClr val="0D1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08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3670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"This is the handoff meeting — the last working session before writing begins."
Call out: GEL was invented this cycle as the primary thesis novelty. Replaces the old cascade entirely.
Likely question: "Where are we vs. the original plan?" — Answer: GEL replaces XAI as the novel contribution; XAI is now Future Work. We'll cover the why in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16 weeks of work, last four weeks are what we're here to discuss.
Call out the rightmost node: GEL val F1 = 73.94%, val AUC = 0.9060. Both metric leaders.
If asked "did you stick to the plan?" — say no, the plan branched in three productive ways: EfficientNet added for diversity, CAALMIX revealed architecture-selectivity instead of universal gain, GEL was invented to replace the cascade. Each branch was empirically driven.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quote — the supervisor said this on 16 April. Don't paraphrase, this is the directive.
Three-track response: diversity, augmentation finding, algorithmic novelty.
Key number to call out: GEL is the primary thesis novelty. Track 3 carries the contribution; tracks 1 and 2 enable it.
If asked "is XAI still the contribution?" — answer: no. GEL is. XAI is future work building on GEL. We'll show why on slide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ResNet-18 + CAALMIX is the cleanest training curve in the project. 0.07pp val→test gap = exceptional generalisation.
Number to call out: +3.11pp F1 gain from CAALMIX on this architecture.
Likely question: "Why ResNet-18 and not deeper?" — Slide 10 has the depth-scaling ablation. Spoiler: deeper hurts at this dataset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Two-part story: DenseNet is the best individual F1, but its AUC is the worst and its threshold is pathologically low (0.175).
Number to call out: F1 = 72.39% — best individual. But AUC = 0.844 = worst.
This sets up slide 11 and the GEL motivation. The calibration mismatch is the reason democratic averaging fails and GEL is needed.
Likely question: "Why didn't you fix calibration directly (e.g. temperature scaling)?" — Honest answer: fusion is a structural fix; we get calibration correction and ensemble diversity in one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upfront: EfficientNet is the weakest individual model. That is OK — its job is diversity, not raw accuracy.
Number to call out: val→test gap = −10.7pp, recorded as Finding F12 in the empirical catalogue.
Likely question: "If it's the weakest, why include it?" — Answer: correlated failures would defeat GEL. Three architecturally distinct models are a prerequisite for the ensemble to error-correct. EfficientNet brings compound-scaled features that neither ResNet nor DenseNet 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surprise. This is the plan, not the finding.
Read out the T1 gate explicitly: ≥2pp F1 on both architectures. That's the bar we set ourselves at Wk 13.
Next slide shows what actually happened.
If asked "why these four components?" — CLAHE for local contrast (X-ray-specific), grayscale to strip JPEG colour noise, Albumentations for geometric robustness, AugMix for distributional robustness on long-tail fracture morphologies.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28031-3A4C-7402-CBE3-953F020E9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9938A7-ACB0-B682-5E6C-5E4050B15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B0919-5151-1295-C548-19283043B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surprise. This is the plan, not the finding.
Read out the T1 gate explicitly: ≥2pp F1 on both architectures. That's the bar we set ourselves at Wk 13.
Next slide shows what actually happened.
If asked "why these four components?" — CLAHE for local contrast (X-ray-specific), grayscale to strip JPEG colour noise, Albumentations for geometric robustness, AugMix for distributional robustness on long-tail fracture morphologies.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5E24A-DA41-89C4-3EE6-59ADD5A2B9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028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framing: T1 gate not met. We are not hiding it.
Three architectures, two distinct mechanisms — that pattern is publishable.
Number to call out: ResNet +3.11pp green, DenseNet −6.17pp red, EfficientNet −3.97pp red.
Likely question: "How is this not a failure?" — Answer: a universal +3pp gain is unsurprising. A systematic architecture-selective pattern across three architectures and two distinct mechanisms is a finding. Next slide explains the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architectures, two structurally different mechanisms produce the same negative effect — that's what makes this publishable.
Anchor the explanation in concrete terms: dense skip connections already preserve early contrast detectors; CLAHE shifts the distribution those detectors learned.
Number to call out: XRayAugMix standalone E8 = −2.17pp. The isolation rules out a CLAHE-conflict explanation.
Likely question: "Could this be a dataset artefact?" — Answer: replicated across three independently trained architectures with different mechanisms. Two distinct architectural reasons (feature reuse, compound scaling), same effect direction. Systematic, not accidental.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depth doesn't rescue augmentation, and augmentation doesn't rescue depth.
Number to call out: −0.88pp at ResNet-50 — CAALMIX inverts. Capacity ceiling.
This justifies keeping ResNet-18 as the classification anchor going forward.
Likely question: "Did you try EfficientNet variants or DenseNet-121 in this matrix?" — Answer: scoped to the ResNet family for clean depth comparison. EfficientNet-B3 is the diversity anchor for GEL, not a depth-scaling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GEL motivation. The point: no single model wins both F1 and AUC, and DenseNet's threshold = 0.175 reveals calibration trouble.
Number to call out: DenseNet F1=72.4% best, AUC=0.844 worst. ResNet inverts: AUC=0.889 best, F1=68.9%.
This is the tension. GEL resolves it by fusion, not by choosing.
Likely question: "Couldn't you just temperature-calibrate DenseNet?" — Acknowledge yes for calibration alone, but fusion gives calibration correction AND ensemble diversity simultaneously. Single move, two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slide for the primary novelty. Walk left-to-right through the diagram.
Open with: "GEL is not an averaging method. It's a four-stage reliability pipeline with five principled novel components."
Numbers to call out: γ=11.4, δ=0.21, val AUC=0.9060, val F1=0.7394. Grid-optimal.
Likely question: "Why not just average?" — Slide 11 answered that motivation. This slide is the architecture.
The next four slides (13–16) detail each stage. Don't get into RC formula here, just the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RC formula on the left, weight curves on the right showing how γ amplifies the F1 gap.
Key principle: at γ=1, democratic average (33/33/33). At γ=11.4, DenseNet leads at 43.1% but never monopolises — preserves ensemble diversity.
Number to call out: 5.3pp F1 gap becomes 17.1pp weight gap — that's the expert-dominant principle.
Likely question: "Why γ=11.4 and not a round number?" — From grid search. Robustness shown next: γ is essentially insensitive (~1pp AUC range across γ=1–15). Principle matters; exact exponent does not. That's Finding F11.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slide — only used if the supervisor asks.
Left: γ robustness from 1 to 15. AUC ~1pp range. Principle (differentiation) matters; exact value does not. That's Finding F11.
Right: pre-normalisation raw values. Without softmax-style normalisation, raw values balloon — why the denominator in RC is not optional.
If asked nothing about robustness, skip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0E4E9-2293-CEB9-9355-438B4F2F4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A21535-CD9D-F81A-80C0-00AEB4C7F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02A8E-1B78-1093-54BB-83F9207DF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slide — only used if the supervisor asks.
Left: γ robustness from 1 to 15. AUC ~1pp range. Principle (differentiation) matters; exact value does not. That's Finding F11.
Right: pre-normalisation raw values. Without softmax-style normalisation, raw values balloon — why the denominator in RC is not optional.
If asked nothing about robustness, skip this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33187-4182-AF8F-7528-968D4A94E1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9684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asymmetry is the clinical insight. HIGH outlier = lone fracture signal, k=0.30 lenient (don't suppress potential catches). LOW outlier = lone non-fracture dissent against fracture consensus, k=0.10 aggressive (don't let one dissenter mask a fracture).
Numbers to call out: k_low=0.10 vs k_high=0.30. ~19% trigger rate on val. The outcome-flip example: 33% non-fracture → 42% fractured after OAM.
Likely question: "Why asymmetric and not symmetric?" — Clinical cost asymmetry. Missing a fracture costs more than over-referring. The asymmetry encodes clinical cost into the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9E3A8-D4DB-5CF6-FE08-06421BACC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CD7D96-967F-3868-9B88-6B32CC688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C7465-5DE4-9497-8117-E629FD354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asymmetry is the clinical insight. HIGH outlier = lone fracture signal, k=0.30 lenient (don't suppress potential catches). LOW outlier = lone non-fracture dissent against fracture consensus, k=0.10 aggressive (don't let one dissenter mask a fracture).
Numbers to call out: k_low=0.10 vs k_high=0.30. ~19% trigger rate on val. The outcome-flip example: 33% non-fracture → 42% fractured after OAM.
Likely question: "Why asymmetric and not symmetric?" — Clinical cost asymmetry. Missing a fracture costs more than over-referring. The asymmetry encodes clinical cost into the algorithm.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F5207-8D37-CB30-9F11-1A1FDC0DC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99375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heatmaps, identical bright spot — that's the visual takeaway. Joint optimum is a real region, not a knife-edge.
Number to call out: 10,716 combinations. γ ∈ [1, 15] step 0.1 × δ ∈ [0.05, 0.80] step 0.01.
Both optima give identical val F1 = 0.7394, so AUC-optimal strictly dominates. That's why γ=11.4, δ=0.21 is canonical.
Likely question: "Aren't you overfitting val with such a fine grid?" — Robustness response: γ is essentially insensitive (Finding F11, ~1pp AUC range), and δ has a wide stable region (visible in heatmap plateaus). Best test AUC at this config = 0.8916.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695B3-F078-DE61-657C-A897F50EE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F3FA30-B059-E5BF-E05E-9951E2B74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4523A-EF0A-2B7B-328E-2C0304BF4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heatmaps, identical bright spot — that's the visual takeaway. Joint optimum is a real region, not a knife-edge.
Number to call out: 10,716 combinations. γ ∈ [1, 15] step 0.1 × δ ∈ [0.05, 0.80] step 0.01.
Both optima give identical val F1 = 0.7394, so AUC-optimal strictly dominates. That's why γ=11.4, δ=0.21 is canonical.
Likely question: "Aren't you overfitting val with such a fine grid?" — Robustness response: γ is essentially insensitive (Finding F11, ~1pp AUC range), and δ has a wide stable region (visible in heatmap plateaus). Best test AUC at this config = 0.8916.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82C50-4A4C-C4FA-B9E6-F6E696FDC0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93227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GEL row: it wins both val F1 and val AUC. That's the headline.
Number to call out: val AUC 0.9060 (+1.72pp), val F1 73.94% (+1.55pp). Threshold 0.400 — a sensible operating point that DenseNet alone (0.175) couldn't provide.
Likely question: "Test F1 dropped a bit vs ResNet alone (67.18% vs 68.85%)" — Acknowledge it. The val→test gap is largely driven by EfficientNet (−10.7pp gap, Finding F12). Val AUC on test is still strong at 0.8916. GEL is tuned on val by design; test reported for completeness.
Likely question: "Could you have tuned on test?" — That would be data leakage. We don't.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C30C5-0D93-911B-18C3-BA9776E7A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0C85E-F9C9-130C-1E84-C190309F2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FB9BF-77B9-69CF-97E9-7A1E30F14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GEL row: it wins both val F1 and val AUC. That's the headline.
Number to call out: val AUC 0.9060 (+1.72pp), val F1 73.94% (+1.55pp). Threshold 0.400 — a sensible operating point that DenseNet alone (0.175) couldn't provide.
Likely question: "Test F1 dropped a bit vs ResNet alone (67.18% vs 68.85%)" — Acknowledge it. The val→test gap is largely driven by EfficientNet (−10.7pp gap, Finding F12). Val AUC on test is still strong at 0.8916. GEL is tuned on val by design; test reported for completeness.
Likely question: "Could you have tuned on test?" — That would be data leakage. We don't.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D5F70-1A24-6369-7518-BC54912AC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01590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models in parallel, GEL fuses three classifiers, YOLO is consumed for the bbox only (excluded from PDWF — its mAP-confidence is not a calibrated probability).
Number to call out: ~9,300 lines of code, 79 files. Non-trivial engineering.
Three inference modes — GEL is default but YOLO-only and ResNet-only modes remain available for debugging/comparison.
Likely question: "Why doesn't YOLO contribute to P_final?" — Methodological correctness. Detection objectness × class probability isn't a calibrated fracture probability. Mixing it with classifier softmax outputs would be a methodological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UI screenshot. Walk through what the clinician sees, in order of attention: the big number top right, the bounding box on the X-ray, the four model scores, the mode selector.
Number to call out: 75% probability shown — that's a real inference run on a real wrist X-ray.
Likely question: "How does the clinician know the bbox is reliable?" — BVG gate. The bbox only appears when YOLO detected AND P_final ≥ τ=0.35. If GEL disagrees with YOLO, the bbox is suppressed and only P_final is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not in the Wk 13 plan. Added because it's the data infrastructure XAI will need.
Pipeline: queue → tag → annotate → submit. CSV-backed for portability.
Number to call out: 4-step workflow, fully wired.
Likely question: "Was this asked for?" — No, but it's the bridge to future XAI work. The expert labels collected here are exactly what CBM/prototypes/counterfactuals need to train on. Slide 25 reinforces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 is in production for FracAssist — not a research artefact you have to opt into.
Numbers to call out: 18.4% val / 20.8% test BVG pass rates. ~19% OAM trigger rate. These are the lived stats, not theoretical.
The "all stages execute on every prediction" line is the audit guarantee.
Likely question: "Can you turn GEL off?" — Yes. ResNet-only and YOLO-only modes are kept for ablation/debugging, but the default is GEL.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every finding — highlight 2 or 3 the supervisor will most want to see.
Suggested: F2 (CAALMIX capacity ceiling), F8 (+14.3pp from patience alone), F10 (GEL fixes DenseNet calibration), F12 (EfficientNet gap as honesty about generalisation).
These are the seeds of the Results &amp; Analysis chapter.
Likely question: "Are these in any kind of priority?" — Tier 1: F2, F3, F10 (architecture × preprocessing × fusion). Tier 2: F6, F7, F8 (YOLO). Tier 3: F11, F12 (robustness/limits).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tile: primary contribution. Five components, name each one briefly.
Middle tile: secondary contribution. The CAALMIX finding earns its place because it's replicable and explainable.
Bottom: XAI pivot. Don't apologise, frame as foundation. GradCAM is already live, Expert Review pipeline is ground-truth infrastructure for future XAI training.
Likely question: "If GEL is the contribution, what was the original XAI work for?" — XAI was the planned contribution at Wk 1. Supervisor concern at Wk 13 was novelty. GEL emerged as the validated algorithmic novelty — empirically stronger because we have AUC/F1 evidence, whereas XAI without ground-truth labels would have been speculative.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chapters are READY (intro outline drafted, lit review outlined, model dev done, GEL fully evidenced, conclusion ready after Ch.5–6).
Two are QUEUED behind dependencies (Ch. 3 awaits Ch. 4 model descriptions, Ch. 6 awaits Ch. 5 results writeup).
Number to call out: 5 of 7 chapters ready to write today.
Likely question: "What's blocking?" — Nothing technical. Writing time. Next slide is the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weeks from this meeting to the jury date (15 July 2026).
Strategy: write the strongest chapters first (Ch. 4, Ch. 5) where evidence is freshest, then bracket with Ch. 3 and Ch. 6, then close with introduction/conclusion.
Two supervisor review cycles planned: mid-draft (after Ch. 4–5) and full-draft (Wk 23).
Likely question: "Is this realistic?" — Five chapters are READY status. Two are queued. The blocker is writing time, not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Capstone. Four tiles, one stat line.
Read the bottom line: "Nine thousand three hundred lines, seventy-nine files, twelve findings, five novel components, one working system."
Reinforce: this exists and works. Not a plan, a delivery.
Close on the bottom-right tile: GradCAM is XAI delivered today; Expert Review is the foundation for future XAI. The descope is not a gap — it's a handoff to the next phase.
End: "Ready to write."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3657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· HANDOFF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755647"/>
            <a:ext cx="9469419" cy="2871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Reliability in Medical AI Systems</a:t>
            </a:r>
          </a:p>
          <a:p>
            <a:pPr marL="0" indent="0">
              <a:buNone/>
            </a:pP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77240" y="4078049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2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FracAtlas &amp; FracAssist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4626689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Fracture Detection via Calibrated Expert </a:t>
            </a:r>
            <a:r>
              <a:rPr lang="tr-TR" sz="16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5212080"/>
            <a:ext cx="10515600" cy="18288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5346551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 </a:t>
            </a:r>
            <a:r>
              <a:rPr lang="tr-TR" sz="1000" kern="0" spc="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Onur Can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kern="0" spc="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Ayşe Berrin Yanıkoğlu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5349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000" dirty="0"/>
          </a:p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Handoff Approval</a:t>
            </a:r>
            <a:endParaRPr lang="en-US" sz="1000" dirty="0"/>
          </a:p>
          <a:p>
            <a:pPr marL="0" indent="0" algn="r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13–16 · </a:t>
            </a:r>
            <a:r>
              <a:rPr lang="tr-TR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WHERE WE 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JOURNEY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Weeks · One Trajectory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371600" y="3657600"/>
            <a:ext cx="9418320" cy="3657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52728" y="3557016"/>
            <a:ext cx="237744" cy="237744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371600" y="3246120"/>
            <a:ext cx="0" cy="411480"/>
          </a:xfrm>
          <a:prstGeom prst="line">
            <a:avLst/>
          </a:prstGeom>
          <a:noFill/>
          <a:ln w="28575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" y="1783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1–2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" y="20574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Lit Review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FracAtlas · 4,083 X-rays · 4.69:1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36392" y="3557016"/>
            <a:ext cx="237744" cy="237744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55264" y="3712464"/>
            <a:ext cx="0" cy="365760"/>
          </a:xfrm>
          <a:prstGeom prst="line">
            <a:avLst/>
          </a:prstGeom>
          <a:noFill/>
          <a:ln w="28575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63724" y="4160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3–4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63724" y="44348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ResNet-18 Baseline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63724" y="5029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57.7%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0056" y="3557016"/>
            <a:ext cx="237744" cy="237744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38928" y="3246120"/>
            <a:ext cx="0" cy="365760"/>
          </a:xfrm>
          <a:prstGeom prst="line">
            <a:avLst/>
          </a:prstGeom>
          <a:noFill/>
          <a:ln w="28575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47388" y="1783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5–6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47388" y="20574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r>
              <a:rPr lang="tr-TR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Approved · GradCAM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47388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65.81% · AUC = 0.8884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03720" y="3557016"/>
            <a:ext cx="237744" cy="237744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22592" y="3712464"/>
            <a:ext cx="0" cy="365760"/>
          </a:xfrm>
          <a:prstGeom prst="line">
            <a:avLst/>
          </a:prstGeom>
          <a:noFill/>
          <a:ln w="28575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31052" y="4160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7–9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31052" y="44348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Y1B Detector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31052" y="5029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mAP@0.5 = 0.651 · +8.9pp vs paper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787384" y="3557016"/>
            <a:ext cx="237744" cy="237744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906256" y="3246120"/>
            <a:ext cx="0" cy="365760"/>
          </a:xfrm>
          <a:prstGeom prst="line">
            <a:avLst/>
          </a:prstGeom>
          <a:noFill/>
          <a:ln w="28575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014716" y="1783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10–12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14716" y="20574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v1 · Y5 ablation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14716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 UI · Cascade · GradCAM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625328" y="3511296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542853" y="3428821"/>
            <a:ext cx="512064" cy="512064"/>
          </a:xfrm>
          <a:prstGeom prst="ellipse">
            <a:avLst/>
          </a:prstGeom>
          <a:solidFill>
            <a:srgbClr val="0D1B2A">
              <a:alpha val="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789920" y="3712464"/>
            <a:ext cx="0" cy="365760"/>
          </a:xfrm>
          <a:prstGeom prst="line">
            <a:avLst/>
          </a:prstGeom>
          <a:noFill/>
          <a:ln w="28575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898380" y="4160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13–16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98380" y="44348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 · CAALMIX · GEL ·</a:t>
            </a:r>
            <a:r>
              <a:rPr lang="tr-TR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EfficientNet, FracAssist v2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898380" y="5029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GEL val F1 = 73.94% · AUC = 0.9060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13–16 is the focus of this meeting · everything earlier is project context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WHERE WE 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CYCLE WAS DIFFERENT</a:t>
            </a:r>
            <a:r>
              <a:rPr lang="tr-TR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CRITICAL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Wk 13 Concern and the Response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10972800" cy="1828800"/>
          </a:xfrm>
          <a:prstGeom prst="rect">
            <a:avLst/>
          </a:prstGeom>
          <a:solidFill>
            <a:srgbClr val="152339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64592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1463040" y="18745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current form </a:t>
            </a:r>
            <a:r>
              <a:rPr lang="tr-TR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background work, model implementation</a:t>
            </a: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tr-TR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 – FracAssist Work.</a:t>
            </a: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tr-TR" sz="2000" i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tr-TR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20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lthough</a:t>
            </a: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has a SOTA. We need </a:t>
            </a:r>
            <a:r>
              <a:rPr lang="en-US" sz="2000" i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9260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Note,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April 2026 meeting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3566160" cy="2011680"/>
          </a:xfrm>
          <a:prstGeom prst="rect">
            <a:avLst/>
          </a:prstGeom>
          <a:solidFill>
            <a:srgbClr val="1B2A41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4251960"/>
            <a:ext cx="457200" cy="45720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2245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Diversity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892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r-T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DenseNet-169 added as second classfier with D- Series – Feature Reuse is the key</a:t>
            </a:r>
          </a:p>
          <a:p>
            <a:pPr marL="0" indent="0">
              <a:buNone/>
            </a:pPr>
            <a:endParaRPr lang="tr-TR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EfficientNet-B3 added as third classifier F-series. Compound scaling provides independent failure modes for ensemble.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11980" y="4023360"/>
            <a:ext cx="3566160" cy="2011680"/>
          </a:xfrm>
          <a:prstGeom prst="rect">
            <a:avLst/>
          </a:prstGeom>
          <a:solidFill>
            <a:srgbClr val="1B2A41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40580" y="4251960"/>
            <a:ext cx="457200" cy="45720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405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34940" y="42245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as Novelty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40580" y="4892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CAALMIX ablation across three architectures and three depths. The universal-gain hypothesis was falsified selectivity is the finding.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83880" y="4023360"/>
            <a:ext cx="3566160" cy="2011680"/>
          </a:xfrm>
          <a:prstGeom prst="rect">
            <a:avLst/>
          </a:prstGeom>
          <a:solidFill>
            <a:srgbClr val="1B2A41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412480" y="425196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124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006840" y="42245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— Algorithmic Novelty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0" y="4892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Ensemble Logic invented from scratch. Five novel components, 10,716-combination grid search. Replaces the old cascade.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THREE CLASSIFIERS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1 OF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· E6 — The </a:t>
            </a:r>
            <a:r>
              <a:rPr lang="tr-TR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Champion</a:t>
            </a:r>
            <a:endParaRPr lang="en-US" sz="2800" dirty="0"/>
          </a:p>
        </p:txBody>
      </p:sp>
      <p:pic>
        <p:nvPicPr>
          <p:cNvPr id="8" name="Image 0" descr="/home/claude/deck/images/curves_E6_ResNet-18_classify_epochs30_lossweighted_ce_w05_CLAHE_Albu_platea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7498080" cy="31272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0" y="1463040"/>
            <a:ext cx="3474720" cy="868680"/>
          </a:xfrm>
          <a:prstGeom prst="rect">
            <a:avLst/>
          </a:prstGeom>
          <a:solidFill>
            <a:srgbClr val="152339"/>
          </a:solidFill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339328" y="153619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F1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339328" y="1755648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68.92%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229600" y="2423160"/>
            <a:ext cx="3474720" cy="868680"/>
          </a:xfrm>
          <a:prstGeom prst="rect">
            <a:avLst/>
          </a:prstGeom>
          <a:solidFill>
            <a:srgbClr val="152339"/>
          </a:solidFill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339328" y="249631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AUC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339328" y="2715768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0.8888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229600" y="3383280"/>
            <a:ext cx="3474720" cy="1188720"/>
          </a:xfrm>
          <a:prstGeom prst="rect">
            <a:avLst/>
          </a:prstGeom>
          <a:solidFill>
            <a:srgbClr val="152339"/>
          </a:solidFill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339328" y="345643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→ TEST GAP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339328" y="3675888"/>
            <a:ext cx="3255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0.07pp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457200" y="4800600"/>
            <a:ext cx="11247120" cy="141732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0080" y="4892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E6 is the inference anchor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CAALMIX = CLAHE + Albumentations.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val losses track within ~0.04 by epoch 30 — overfitting essentially eliminated. Val F1 +3.11pp over E4a baseline.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Configuration: weighted CE (w=0.5) · 30 epochs · plateau LR · threshold 0.525 val / 0.425 test · weights = E6_best.pth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THREE CLASSIFIERS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2 OF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DenseNet-169 · D1 — Individual F1 Leader</a:t>
            </a:r>
            <a:endParaRPr lang="en-US" sz="2800" dirty="0"/>
          </a:p>
        </p:txBody>
      </p:sp>
      <p:pic>
        <p:nvPicPr>
          <p:cNvPr id="8" name="Image 0" descr="/home/claude/deck/images/curves_D1_DenseNet-169_classify_epochs50_lossweighted_ce_w05_platea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7498080" cy="31272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0" y="1463040"/>
            <a:ext cx="3474720" cy="868680"/>
          </a:xfrm>
          <a:prstGeom prst="rect">
            <a:avLst/>
          </a:prstGeom>
          <a:solidFill>
            <a:srgbClr val="152339"/>
          </a:solidFill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339328" y="153619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F1 (BEST INDIVIDUAL)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339328" y="1755648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72.39%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229600" y="2423160"/>
            <a:ext cx="3474720" cy="868680"/>
          </a:xfrm>
          <a:prstGeom prst="rect">
            <a:avLst/>
          </a:prstGeom>
          <a:solidFill>
            <a:srgbClr val="152339"/>
          </a:solidFill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339328" y="249631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AUC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339328" y="2715768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0.8439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229600" y="3383280"/>
            <a:ext cx="3474720" cy="1188720"/>
          </a:xfrm>
          <a:prstGeom prst="rect">
            <a:avLst/>
          </a:prstGeom>
          <a:solidFill>
            <a:srgbClr val="152339"/>
          </a:solidFill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339328" y="345643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THRESHOLD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339328" y="3675888"/>
            <a:ext cx="3255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0.175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457200" y="4800600"/>
            <a:ext cx="11247120" cy="141732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0080" y="4892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reuse helps fractures — but calibration is off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5212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skip connections preserve early edge/contrast detectors at every depth — ideal for hairline cortical discontinuities. </a:t>
            </a:r>
            <a:r>
              <a:rPr lang="en-US" sz="1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threshold = 0.175 signals poor probability calibration.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individual F1, worst AUC — a tension GEL will resolve.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Configuration: full fine-tune · weighted CE (w=0.5) · 50 epochs · plateau LR · weights = D1_best.pth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THREE CLASSIFIERS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3 OF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EfficientNet-B3 · F1 — Architectural Diversity</a:t>
            </a:r>
            <a:endParaRPr lang="en-US" sz="2800" dirty="0"/>
          </a:p>
        </p:txBody>
      </p:sp>
      <p:pic>
        <p:nvPicPr>
          <p:cNvPr id="8" name="Image 0" descr="/home/claude/deck/images/curves_F1_EfficientNet-B3_classify_epochs50_lossweighted_ce_w05_platea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7498080" cy="31272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0" y="1463040"/>
            <a:ext cx="3474720" cy="868680"/>
          </a:xfrm>
          <a:prstGeom prst="rect">
            <a:avLst/>
          </a:prstGeom>
          <a:solidFill>
            <a:srgbClr val="152339"/>
          </a:solidFill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339328" y="153619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F1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339328" y="1755648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67.07%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229600" y="2423160"/>
            <a:ext cx="3474720" cy="868680"/>
          </a:xfrm>
          <a:prstGeom prst="rect">
            <a:avLst/>
          </a:prstGeom>
          <a:solidFill>
            <a:srgbClr val="152339"/>
          </a:solidFill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339328" y="249631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339328" y="2715768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56.34%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229600" y="3383280"/>
            <a:ext cx="3474720" cy="1188720"/>
          </a:xfrm>
          <a:prstGeom prst="rect">
            <a:avLst/>
          </a:prstGeom>
          <a:solidFill>
            <a:srgbClr val="152339"/>
          </a:solidFill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339328" y="345643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→ TEST GAP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339328" y="3675888"/>
            <a:ext cx="3255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−10.7pp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457200" y="4800600"/>
            <a:ext cx="11247120" cy="141732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0080" y="4892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role is not accuracy — it is diversity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5212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width-depth-resolution scaling.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val→test gap of all models (−10.7pp) — depthwise separable convolutions may underperform under distribution shift. </a:t>
            </a: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Critically, its failure modes are structurally different from ResNet and DenseNet — exactly what GEL needs to error-correct.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Configuration: weighted CE (w=0.5) · 50 epochs · early stop ep36 · weights = F1_best.pth · F2 (+CLAHE) hurt F1 by −3.97pp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CAALMIX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HYPOTHESIS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454"/>
            <a:ext cx="8356164" cy="475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CAALMIX — The Augmentation Pipeline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Universal-gain hypothesis · expected ≥2pp F1 on every architecture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697480" cy="2286000"/>
          </a:xfrm>
          <a:prstGeom prst="rect">
            <a:avLst/>
          </a:prstGeom>
          <a:solidFill>
            <a:srgbClr val="1B2A41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2697480" cy="45720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CLAHE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5146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Contrast-Limited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Histogram Eq.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local contrast in low-contrast X-rays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73552" y="1874520"/>
            <a:ext cx="2697480" cy="2286000"/>
          </a:xfrm>
          <a:prstGeom prst="rect">
            <a:avLst/>
          </a:prstGeom>
          <a:solidFill>
            <a:srgbClr val="1B2A41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73552" y="1874520"/>
            <a:ext cx="2697480" cy="45720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73552" y="1874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56432" y="25146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Enforce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56432" y="3429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false colour from JPEG artefacts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9904" y="1874520"/>
            <a:ext cx="2697480" cy="2286000"/>
          </a:xfrm>
          <a:prstGeom prst="rect">
            <a:avLst/>
          </a:prstGeom>
          <a:solidFill>
            <a:srgbClr val="1B2A41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89904" y="1874520"/>
            <a:ext cx="2697480" cy="45720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89904" y="1874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ALBU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72784" y="25146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Albumentations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72784" y="3429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+ intensity train-only augmentations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06256" y="1874520"/>
            <a:ext cx="2697480" cy="2286000"/>
          </a:xfrm>
          <a:prstGeom prst="rect">
            <a:avLst/>
          </a:prstGeom>
          <a:solidFill>
            <a:srgbClr val="1B2A41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906256" y="1874520"/>
            <a:ext cx="2697480" cy="45720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906256" y="1874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AUGMIX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89136" y="25146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XRay-AugMix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89136" y="3429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Beta(1,1) augmentation mixing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6400800" cy="68580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45262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TTA (Test-Time Augmentation)  </a:t>
            </a:r>
            <a:endParaRPr lang="tr-TR" sz="1200" b="1" kern="0" spc="200" dirty="0">
              <a:solidFill>
                <a:srgbClr val="00B4D8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N augmented passes at inference. Originally planned to reduce borderline-case variance.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5349240"/>
            <a:ext cx="6400800" cy="868680"/>
          </a:xfrm>
          <a:prstGeom prst="rect">
            <a:avLst/>
          </a:prstGeom>
          <a:solidFill>
            <a:srgbClr val="1B2A41"/>
          </a:solidFill>
          <a:ln w="1905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54223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thesis claim (T1 gate)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CAALMIX yields ≥2pp F1 on both ResNet-18 and DenseNet-169 — primary novelty confirmed.</a:t>
            </a:r>
            <a:endParaRPr lang="en-US" sz="1300" dirty="0"/>
          </a:p>
        </p:txBody>
      </p:sp>
      <p:pic>
        <p:nvPicPr>
          <p:cNvPr id="1030" name="Picture 6" descr="LCSB-inception: Reliable and effective light-chroma separated branches for  Covid-19 detection from chest X-ray images - ScienceDirect">
            <a:extLst>
              <a:ext uri="{FF2B5EF4-FFF2-40B4-BE49-F238E27FC236}">
                <a16:creationId xmlns:a16="http://schemas.microsoft.com/office/drawing/2014/main" id="{0020824F-5DCE-55CF-F4D4-91270319D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520" y="4297680"/>
            <a:ext cx="3582543" cy="2011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E0B5DC-2ECA-7714-E337-149CCB665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0C567A-1CBC-76B5-FA67-0DE3B942947E}"/>
              </a:ext>
            </a:extLst>
          </p:cNvPr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722101-06A3-D90D-A5A8-0A18141CB473}"/>
              </a:ext>
            </a:extLst>
          </p:cNvPr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986E5F7-B536-38DA-977A-5E0C22F1A624}"/>
              </a:ext>
            </a:extLst>
          </p:cNvPr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 3 · CAALMIX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BEB1FA-E248-8650-5EE8-027684A073E4}"/>
              </a:ext>
            </a:extLst>
          </p:cNvPr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r"/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F0E1F6B-6CC7-F52B-A6C2-1E08394F136A}"/>
              </a:ext>
            </a:extLst>
          </p:cNvPr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40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HYPOTHESIS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6927D98-CE4C-785C-D0F4-7D1E054AF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15" y="598932"/>
            <a:ext cx="10214385" cy="570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185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CAALMIX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ARCHITECTURE-SELECTIVITY IS THE FINDING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Universal-Gain Hypothesis · Falsified</a:t>
            </a:r>
            <a:endParaRPr lang="en-US" sz="2800" dirty="0"/>
          </a:p>
        </p:txBody>
      </p:sp>
      <p:pic>
        <p:nvPicPr>
          <p:cNvPr id="8" name="Image 0" descr="/home/claude/deck/images/caalmix_architecture_sele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822960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869680" y="1371600"/>
            <a:ext cx="2834640" cy="361188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05256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05256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052560" y="2057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+3.11pp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052560" y="24414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E6 vs E4a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05256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DenseNet-169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05256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−6.17pp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052560" y="3447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 vs D1 (CLAHE)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05256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05256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−3.97pp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052560" y="44531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 vs F1 (CLAHE)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solidFill>
            <a:srgbClr val="1B2A41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" y="5303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Re-framed claim — and a more publishable one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CLAHE+Albumentations is optimal for shallow CNNs (+3.11pp). Architectures with built-in feature reuse or compound scaling self-regularise contrast implicitly and are degraded by explicit CLAHE. </a:t>
            </a:r>
            <a:r>
              <a:rPr lang="en-US" sz="1200" b="1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surprised us — and the surprise is the finding.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CAALMIX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CLAHE is Architecture-Selective</a:t>
            </a:r>
            <a:endParaRPr lang="en-US" sz="2800" dirty="0"/>
          </a:p>
        </p:txBody>
      </p:sp>
      <p:pic>
        <p:nvPicPr>
          <p:cNvPr id="8" name="Image 0" descr="/home/claude/deck/images/caalmix_architecture_sele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3840480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chart from previous slide — for reference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0" y="1417320"/>
            <a:ext cx="7132320" cy="132588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0" y="1417320"/>
            <a:ext cx="73152" cy="132588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00600" y="1490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00600" y="1801368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residual connections · no implicit contrast propagation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00600" y="2331720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+3.11pp — CLAHE fills a genuine gap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0" y="2834640"/>
            <a:ext cx="7132320" cy="132588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0" y="2834640"/>
            <a:ext cx="73152" cy="132588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00600" y="2907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DenseNet-169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00600" y="3218688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skip connections concatenate ALL preceding feature maps · early contrast/edge detectors remain accessible at every depth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00600" y="3749040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−6.17pp — CLAHE disrupts the learned low-level filter distribution that dense reuse depends 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0" y="4251960"/>
            <a:ext cx="7132320" cy="132588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572000" y="4251960"/>
            <a:ext cx="73152" cy="132588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00600" y="4325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00600" y="4636008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width/depth/resolution scaling · multi-scale features implicitly capture contrast variation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00600" y="5166360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−3.97pp — same mechanism · compound scaling already handles low-contrast X-rays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solidFill>
            <a:srgbClr val="1B2A41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40080" y="58338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XRayAugMix isolation (E8 standalone): −2.17pp vs E4a.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harm is intrinsic — not a CLAHE-conflict artefact. </a:t>
            </a:r>
            <a:r>
              <a:rPr lang="en-US" sz="10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Beta(1,1) mixing too aggressive for 717 fractured images.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CAALMIX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CAPACITY CEILING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Cannot Substitute for Augmentation</a:t>
            </a:r>
            <a:endParaRPr lang="en-US" sz="2800" dirty="0"/>
          </a:p>
        </p:txBody>
      </p:sp>
      <p:pic>
        <p:nvPicPr>
          <p:cNvPr id="8" name="Image 0" descr="/home/claude/deck/images/depth_scaling_caalmix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7772400" cy="3657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0" y="1417320"/>
            <a:ext cx="3291840" cy="365760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0" y="1508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2 ABLATION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ResNet-18 / 34 / 50 × Standard / CAALMIX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595360" y="2194560"/>
            <a:ext cx="365760" cy="36576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59536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052560" y="21488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depth cap without regularisation = ResNet-34.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95360" y="3108960"/>
            <a:ext cx="365760" cy="36576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9536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052560" y="3063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CAALMIX benefit monotonically declines with depth: +3.11pp → +1.70pp → −0.88pp.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95360" y="4023360"/>
            <a:ext cx="365760" cy="36576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59536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052560" y="39776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operating point: ResNet-18 + CAALMIX. Augmentation as primary regulariser, not depth.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5257800"/>
            <a:ext cx="11247120" cy="960120"/>
          </a:xfrm>
          <a:prstGeom prst="rect">
            <a:avLst/>
          </a:prstGeom>
          <a:solidFill>
            <a:srgbClr val="1B2A41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0080" y="5349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curve inverts at ResNet-50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" y="56509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~25M parameters cannot be supported by 717 fractured training images. When model capacity substantially exceeds what the dataset supports, augmentation variance compounds the overfitting problem rather than alleviating it.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GEL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THAT DROVE GEL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Wins on Both F1 and AUC</a:t>
            </a:r>
            <a:endParaRPr lang="en-US" sz="2800" dirty="0"/>
          </a:p>
        </p:txBody>
      </p:sp>
      <p:pic>
        <p:nvPicPr>
          <p:cNvPr id="8" name="Image 0" descr="/home/claude/deck/images/all_models_va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868680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326880" y="1417320"/>
            <a:ext cx="2377440" cy="3246120"/>
          </a:xfrm>
          <a:prstGeom prst="rect">
            <a:avLst/>
          </a:prstGeom>
          <a:solidFill>
            <a:srgbClr val="152339"/>
          </a:solidFill>
          <a:ln w="1905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46404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TENSION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509760" y="178308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72.4% ★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= 0.844 ✗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 = 0.175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68.9%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= 0.889 ★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 = 0.525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67.1%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= 0.883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 = 0.525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4937760"/>
            <a:ext cx="11247120" cy="1280160"/>
          </a:xfrm>
          <a:prstGeom prst="rect">
            <a:avLst/>
          </a:prstGeom>
          <a:solidFill>
            <a:srgbClr val="1B2A41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5029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simple average fails — and what GEL fixes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5349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Democratic averaging assigns 33% to each model — but DenseNet outperforms by F1 while being miscalibrated (threshold 0.175 indicates probabilities are systematically too low). GEL solves both: Expert-Dominant RC weights by performance, PDWF fusion corrects calibration through diversity, the OAM guard handles dissent. </a:t>
            </a:r>
            <a:r>
              <a:rPr lang="en-US" sz="1100" b="1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through calibrated expert complementarity — not majority vote.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GEL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ARCHITECTURE VIA CALIBRATED EXPERT COMPLEMENTARITY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— Gated Ensemble Logic</a:t>
            </a:r>
            <a:endParaRPr lang="en-US" sz="2800" dirty="0"/>
          </a:p>
        </p:txBody>
      </p:sp>
      <p:pic>
        <p:nvPicPr>
          <p:cNvPr id="8" name="Image 0" descr="/home/claude/deck/images/gel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01" y="1396621"/>
            <a:ext cx="10282518" cy="367829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440680"/>
            <a:ext cx="11247120" cy="868680"/>
          </a:xfrm>
          <a:prstGeom prst="rect">
            <a:avLst/>
          </a:prstGeom>
          <a:solidFill>
            <a:srgbClr val="1B2A41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5486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novel components, each with a principled design choice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5806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Expert-Dominant RC  (2) Direction-Aware Asymmetric OAM  (3) PDWF probability fusion  (4) BVG gate  (5) Joint γ×δ grid search (10,716 combos)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GEL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OF 4 · RC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Expert-Dominant Reliability Coefficient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572000" cy="329184"/>
          </a:xfrm>
          <a:prstGeom prst="rect">
            <a:avLst/>
          </a:prstGeom>
          <a:solidFill>
            <a:srgbClr val="152339"/>
          </a:solidFill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14300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13716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00200" y="1408176"/>
            <a:ext cx="0" cy="256032"/>
          </a:xfrm>
          <a:prstGeom prst="line">
            <a:avLst/>
          </a:prstGeom>
          <a:noFill/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0" y="13716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PDWF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1408176"/>
            <a:ext cx="0" cy="256032"/>
          </a:xfrm>
          <a:prstGeom prst="line">
            <a:avLst/>
          </a:prstGeom>
          <a:noFill/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86200" y="13716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BVG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86200" y="1408176"/>
            <a:ext cx="0" cy="256032"/>
          </a:xfrm>
          <a:prstGeom prst="line">
            <a:avLst/>
          </a:prstGeom>
          <a:noFill/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0" y="13716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13716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Reliability Architecture · γ=11.4 · δ=0.21</a:t>
            </a:r>
            <a:endParaRPr lang="en-US" sz="1000" dirty="0"/>
          </a:p>
        </p:txBody>
      </p:sp>
      <p:pic>
        <p:nvPicPr>
          <p:cNvPr id="19" name="Image 0" descr="/home/claude/deck/images/rc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282" y="1828800"/>
            <a:ext cx="6583680" cy="36576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40080" y="574243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γ=11.4: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 43.1% · ResNet 30.9% · EfficientNet 26.0%. </a:t>
            </a:r>
            <a:r>
              <a:rPr lang="en-US" sz="12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gap of 5.3pp → weight gap of 17.1pp. The expert is heard — not outvoted.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OF 4 · RC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Normalization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RCs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172200" y="13716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Pre-normalisation RC weight curves · why normalisation is required</a:t>
            </a:r>
            <a:endParaRPr lang="en-US" sz="1100" dirty="0"/>
          </a:p>
        </p:txBody>
      </p:sp>
      <p:pic>
        <p:nvPicPr>
          <p:cNvPr id="12" name="Image 2" descr="/home/claude/deck/images/gel_rc_concept_pow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5532120" cy="44348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62636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artefacts available in the GitHub repo · FracAssist-Explainability-Reliability-in-Medical-AI-Systems</a:t>
            </a:r>
            <a:endParaRPr lang="en-US" sz="1000" dirty="0"/>
          </a:p>
        </p:txBody>
      </p:sp>
      <p:pic>
        <p:nvPicPr>
          <p:cNvPr id="20" name="Image 1" descr="/home/claude/deck/images/gel_rc_conce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49" y="1691640"/>
            <a:ext cx="5492971" cy="44387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DE6742-8208-D54D-2DAA-8C1B36FDF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C2CEA1-09BB-BBC7-DCD9-195258C095EF}"/>
              </a:ext>
            </a:extLst>
          </p:cNvPr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A94272-AAF0-B190-1657-B01ACC2A05C0}"/>
              </a:ext>
            </a:extLst>
          </p:cNvPr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6F726E5-7B1D-3A41-188A-26775CE043A4}"/>
              </a:ext>
            </a:extLst>
          </p:cNvPr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AEBD968-4B5F-779F-F148-8DD514097D57}"/>
              </a:ext>
            </a:extLst>
          </p:cNvPr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r">
              <a:defRPr/>
            </a:pPr>
            <a:r>
              <a:rPr kumimoji="0" lang="tr-TR" sz="900" b="0" i="0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44885CC-30C3-1346-6B1B-4F9CD644722C}"/>
              </a:ext>
            </a:extLst>
          </p:cNvPr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40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STAGE 1 OF 4 · RC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028C3B4-8601-4348-A0DF-5978BDBAC068}"/>
              </a:ext>
            </a:extLst>
          </p:cNvPr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</a:t>
            </a:r>
            <a:r>
              <a:rPr kumimoji="0" lang="tr-TR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Sweep Search for RC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542A2F-0C6F-DAA3-0BD0-D65886671B3B}"/>
              </a:ext>
            </a:extLst>
          </p:cNvPr>
          <p:cNvSpPr/>
          <p:nvPr/>
        </p:nvSpPr>
        <p:spPr>
          <a:xfrm>
            <a:off x="457200" y="13716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γ robustness · Finding F11 — exponent insensitive across γ=1–15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0" descr="/home/claude/deck/images/gel_gamma_sweep_auc.png">
            <a:extLst>
              <a:ext uri="{FF2B5EF4-FFF2-40B4-BE49-F238E27FC236}">
                <a16:creationId xmlns:a16="http://schemas.microsoft.com/office/drawing/2014/main" id="{8EE87DBC-AFB9-2499-4104-E525885CE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82" y="2331720"/>
            <a:ext cx="5532120" cy="2194560"/>
          </a:xfrm>
          <a:prstGeom prst="rect">
            <a:avLst/>
          </a:prstGeom>
        </p:spPr>
      </p:pic>
      <p:pic>
        <p:nvPicPr>
          <p:cNvPr id="10" name="Image 1" descr="/home/claude/deck/images/gel_gamma_sweep_f1.png">
            <a:extLst>
              <a:ext uri="{FF2B5EF4-FFF2-40B4-BE49-F238E27FC236}">
                <a16:creationId xmlns:a16="http://schemas.microsoft.com/office/drawing/2014/main" id="{978C6FE6-F29E-561D-F25A-D9AF2CE47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331720"/>
            <a:ext cx="5532120" cy="21945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B9057907-A00D-7CBD-FDF7-5E6216D4A1FB}"/>
              </a:ext>
            </a:extLst>
          </p:cNvPr>
          <p:cNvSpPr/>
          <p:nvPr/>
        </p:nvSpPr>
        <p:spPr>
          <a:xfrm>
            <a:off x="457200" y="62636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All artefacts available in the GitHub repo · FracAssist-Explainability-Reliability-in-Medical-AI-Systems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0486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GEL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OF 4 · OUTLIER-AWARE MODIFICATION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Direction-Aware Asymmetric OAM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572000" cy="329184"/>
          </a:xfrm>
          <a:prstGeom prst="rect">
            <a:avLst/>
          </a:prstGeom>
          <a:solidFill>
            <a:srgbClr val="152339"/>
          </a:solidFill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00200" y="1371600"/>
            <a:ext cx="114300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00200" y="13716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00200" y="1408176"/>
            <a:ext cx="0" cy="256032"/>
          </a:xfrm>
          <a:prstGeom prst="line">
            <a:avLst/>
          </a:prstGeom>
          <a:noFill/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0" y="13716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PDWF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1408176"/>
            <a:ext cx="0" cy="256032"/>
          </a:xfrm>
          <a:prstGeom prst="line">
            <a:avLst/>
          </a:prstGeom>
          <a:noFill/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86200" y="13716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BVG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86200" y="1408176"/>
            <a:ext cx="0" cy="256032"/>
          </a:xfrm>
          <a:prstGeom prst="line">
            <a:avLst/>
          </a:prstGeom>
          <a:noFill/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0" y="13716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7680" y="10241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Reliability Architecture </a:t>
            </a:r>
            <a:r>
              <a:rPr lang="en-US" sz="1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γ=11.4 · δ=0.21</a:t>
            </a:r>
            <a:endParaRPr lang="en-US" sz="1000" b="1" dirty="0">
              <a:solidFill>
                <a:schemeClr val="bg1"/>
              </a:solidFill>
            </a:endParaRPr>
          </a:p>
        </p:txBody>
      </p:sp>
      <p:pic>
        <p:nvPicPr>
          <p:cNvPr id="19" name="Image 0" descr="/home/claude/deck/images/oam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555" y="614112"/>
            <a:ext cx="6031108" cy="2723726"/>
          </a:xfrm>
          <a:prstGeom prst="rect">
            <a:avLst/>
          </a:prstGeom>
        </p:spPr>
      </p:pic>
      <p:pic>
        <p:nvPicPr>
          <p:cNvPr id="20" name="Image 1" descr="/home/claude/deck/images/oam_exampl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429000"/>
            <a:ext cx="6031902" cy="28148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7680" y="1810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evidence — 1D δ sweeps</a:t>
            </a:r>
            <a:endParaRPr lang="en-US" sz="1100" dirty="0"/>
          </a:p>
        </p:txBody>
      </p:sp>
      <p:pic>
        <p:nvPicPr>
          <p:cNvPr id="22" name="Image 2" descr="/home/claude/deck/images/gel_oam_sweep_au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820" y="2095152"/>
            <a:ext cx="4168140" cy="2048746"/>
          </a:xfrm>
          <a:prstGeom prst="rect">
            <a:avLst/>
          </a:prstGeom>
        </p:spPr>
      </p:pic>
      <p:pic>
        <p:nvPicPr>
          <p:cNvPr id="23" name="Image 3" descr="/home/claude/deck/images/gel_oam_sweep_f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6820" y="4178317"/>
            <a:ext cx="4168140" cy="204874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57200" y="62636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~19% any-model trigger rate on val · active correction, not safety net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81BE4B-3E2C-545D-0226-8FF33EAD4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260929-AB0A-A48B-3DFB-8C7A897C7F15}"/>
              </a:ext>
            </a:extLst>
          </p:cNvPr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4D0C93-066F-4E1C-A776-15F3FAE2E4C5}"/>
              </a:ext>
            </a:extLst>
          </p:cNvPr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0A91E28-6BDA-25A6-3F0C-DBC6DFF97401}"/>
              </a:ext>
            </a:extLst>
          </p:cNvPr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 4 · GEL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C0C2930-E747-F35F-7552-B66796DF5B64}"/>
              </a:ext>
            </a:extLst>
          </p:cNvPr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r">
              <a:defRPr/>
            </a:pPr>
            <a:r>
              <a:rPr kumimoji="0" lang="tr-TR" sz="900" b="0" i="0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CE2F83-F55B-083D-DB5E-CB308F10A931}"/>
              </a:ext>
            </a:extLst>
          </p:cNvPr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40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STAGE 2 OF 4 · OUTLIER-AWARE MODIFICATION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30C2AD8-C907-52F2-4B47-1EBC7E8B9DDE}"/>
              </a:ext>
            </a:extLst>
          </p:cNvPr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Direction-Aware Asymmetric OAM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A207123-7F37-B5A8-6684-F4B0FA19B78D}"/>
              </a:ext>
            </a:extLst>
          </p:cNvPr>
          <p:cNvSpPr/>
          <p:nvPr/>
        </p:nvSpPr>
        <p:spPr>
          <a:xfrm>
            <a:off x="457200" y="1371600"/>
            <a:ext cx="4572000" cy="329184"/>
          </a:xfrm>
          <a:prstGeom prst="rect">
            <a:avLst/>
          </a:prstGeom>
          <a:solidFill>
            <a:srgbClr val="152339"/>
          </a:solidFill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4DAA3DD-1A07-878E-EB29-188C6C51E2F3}"/>
              </a:ext>
            </a:extLst>
          </p:cNvPr>
          <p:cNvSpPr/>
          <p:nvPr/>
        </p:nvSpPr>
        <p:spPr>
          <a:xfrm>
            <a:off x="457200" y="13716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RC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B59FDEC-213B-7AD6-A070-482A7109C89B}"/>
              </a:ext>
            </a:extLst>
          </p:cNvPr>
          <p:cNvSpPr/>
          <p:nvPr/>
        </p:nvSpPr>
        <p:spPr>
          <a:xfrm>
            <a:off x="1600200" y="1371600"/>
            <a:ext cx="114300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38889D8-13D9-EEA1-C9A2-9F947BC6F719}"/>
              </a:ext>
            </a:extLst>
          </p:cNvPr>
          <p:cNvSpPr/>
          <p:nvPr/>
        </p:nvSpPr>
        <p:spPr>
          <a:xfrm>
            <a:off x="1600200" y="13716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OAM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287D794-A5F7-5038-6D43-9B12904E5E8E}"/>
              </a:ext>
            </a:extLst>
          </p:cNvPr>
          <p:cNvSpPr/>
          <p:nvPr/>
        </p:nvSpPr>
        <p:spPr>
          <a:xfrm>
            <a:off x="1600200" y="1408176"/>
            <a:ext cx="0" cy="256032"/>
          </a:xfrm>
          <a:prstGeom prst="line">
            <a:avLst/>
          </a:prstGeom>
          <a:noFill/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9345036-14B0-2A22-8BAD-A628904834E5}"/>
              </a:ext>
            </a:extLst>
          </p:cNvPr>
          <p:cNvSpPr/>
          <p:nvPr/>
        </p:nvSpPr>
        <p:spPr>
          <a:xfrm>
            <a:off x="2743200" y="13716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PDWF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481330B-2667-A645-798A-32CF38E16491}"/>
              </a:ext>
            </a:extLst>
          </p:cNvPr>
          <p:cNvSpPr/>
          <p:nvPr/>
        </p:nvSpPr>
        <p:spPr>
          <a:xfrm>
            <a:off x="2743200" y="1408176"/>
            <a:ext cx="0" cy="256032"/>
          </a:xfrm>
          <a:prstGeom prst="line">
            <a:avLst/>
          </a:prstGeom>
          <a:noFill/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C3CF2CE-453A-44CE-B90C-4629E68BB14A}"/>
              </a:ext>
            </a:extLst>
          </p:cNvPr>
          <p:cNvSpPr/>
          <p:nvPr/>
        </p:nvSpPr>
        <p:spPr>
          <a:xfrm>
            <a:off x="3886200" y="13716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BVG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77C4133-F62E-1175-5D61-B377F16C6781}"/>
              </a:ext>
            </a:extLst>
          </p:cNvPr>
          <p:cNvSpPr/>
          <p:nvPr/>
        </p:nvSpPr>
        <p:spPr>
          <a:xfrm>
            <a:off x="3886200" y="1408176"/>
            <a:ext cx="0" cy="256032"/>
          </a:xfrm>
          <a:prstGeom prst="line">
            <a:avLst/>
          </a:prstGeom>
          <a:noFill/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8CA8D6F-EA43-EF68-64CF-BA68852E2A0A}"/>
              </a:ext>
            </a:extLst>
          </p:cNvPr>
          <p:cNvSpPr/>
          <p:nvPr/>
        </p:nvSpPr>
        <p:spPr>
          <a:xfrm>
            <a:off x="5120640" y="13716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919C375-BF15-001C-10B4-3AADDFE51C37}"/>
              </a:ext>
            </a:extLst>
          </p:cNvPr>
          <p:cNvSpPr/>
          <p:nvPr/>
        </p:nvSpPr>
        <p:spPr>
          <a:xfrm>
            <a:off x="487680" y="10241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Reliability Architecture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· γ=11.4 · δ=0.21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647F8CC0-90D8-FA7A-A4D9-FE74CB1EF17D}"/>
              </a:ext>
            </a:extLst>
          </p:cNvPr>
          <p:cNvSpPr/>
          <p:nvPr/>
        </p:nvSpPr>
        <p:spPr>
          <a:xfrm>
            <a:off x="502920" y="1801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Empirical evidence — </a:t>
            </a:r>
            <a:r>
              <a:rPr lang="tr-TR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trigger rates</a:t>
            </a:r>
            <a:r>
              <a:rPr kumimoji="0" lang="tr-TR" sz="11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tell the story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4" descr="/home/claude/deck/images/gel_oam_trigger_rates.png">
            <a:extLst>
              <a:ext uri="{FF2B5EF4-FFF2-40B4-BE49-F238E27FC236}">
                <a16:creationId xmlns:a16="http://schemas.microsoft.com/office/drawing/2014/main" id="{53C2D711-E2A1-4494-2733-930D33B20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354" y="2076404"/>
            <a:ext cx="4263618" cy="2095677"/>
          </a:xfrm>
          <a:prstGeom prst="rect">
            <a:avLst/>
          </a:prstGeom>
        </p:spPr>
      </p:pic>
      <p:pic>
        <p:nvPicPr>
          <p:cNvPr id="25" name="Image 5" descr="/home/claude/deck/images/gel_oam_trigger_vs_auc.png">
            <a:extLst>
              <a:ext uri="{FF2B5EF4-FFF2-40B4-BE49-F238E27FC236}">
                <a16:creationId xmlns:a16="http://schemas.microsoft.com/office/drawing/2014/main" id="{E5E93DA4-83BC-A69B-C155-06075A180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2354" y="4185908"/>
            <a:ext cx="4263618" cy="2095677"/>
          </a:xfrm>
          <a:prstGeom prst="rect">
            <a:avLst/>
          </a:prstGeom>
        </p:spPr>
      </p:pic>
      <p:sp>
        <p:nvSpPr>
          <p:cNvPr id="26" name="Text 18">
            <a:extLst>
              <a:ext uri="{FF2B5EF4-FFF2-40B4-BE49-F238E27FC236}">
                <a16:creationId xmlns:a16="http://schemas.microsoft.com/office/drawing/2014/main" id="{BE78F38B-BF5E-AF0B-F6CC-1A3268DCEBA1}"/>
              </a:ext>
            </a:extLst>
          </p:cNvPr>
          <p:cNvSpPr/>
          <p:nvPr/>
        </p:nvSpPr>
        <p:spPr>
          <a:xfrm>
            <a:off x="457200" y="62636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48CAE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~19% any-model trigger rate on val · active correction, not safety net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0" descr="/home/claude/deck/images/oam_1.png">
            <a:extLst>
              <a:ext uri="{FF2B5EF4-FFF2-40B4-BE49-F238E27FC236}">
                <a16:creationId xmlns:a16="http://schemas.microsoft.com/office/drawing/2014/main" id="{A0CB4774-ABE6-3066-0A86-AB729E4A03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768" y="851856"/>
            <a:ext cx="5480125" cy="2474895"/>
          </a:xfrm>
          <a:prstGeom prst="rect">
            <a:avLst/>
          </a:prstGeom>
        </p:spPr>
      </p:pic>
      <p:pic>
        <p:nvPicPr>
          <p:cNvPr id="28" name="Image 1" descr="/home/claude/deck/images/oam_example_1.png">
            <a:extLst>
              <a:ext uri="{FF2B5EF4-FFF2-40B4-BE49-F238E27FC236}">
                <a16:creationId xmlns:a16="http://schemas.microsoft.com/office/drawing/2014/main" id="{236BA820-E26D-641C-E3E1-E2EC12F779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768" y="3448752"/>
            <a:ext cx="5480125" cy="255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35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GEL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OPTIMISATION · GRID SEARCH 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10,716 Combinations · Joint γ</a:t>
            </a:r>
            <a:r>
              <a:rPr lang="tr-TR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(1,15)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δ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r>
              <a:rPr lang="tr-TR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(0.05-0.80)</a:t>
            </a:r>
          </a:p>
          <a:p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r>
              <a:rPr lang="tr-TR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(1,15)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δ</a:t>
            </a:r>
            <a:r>
              <a:rPr lang="tr-TR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(0.05-0.80) Grid</a:t>
            </a:r>
            <a:endParaRPr lang="en-US" sz="1200" i="1" dirty="0"/>
          </a:p>
        </p:txBody>
      </p:sp>
      <p:sp>
        <p:nvSpPr>
          <p:cNvPr id="17" name="Text 15"/>
          <p:cNvSpPr/>
          <p:nvPr/>
        </p:nvSpPr>
        <p:spPr>
          <a:xfrm>
            <a:off x="5120640" y="13716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13716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Reliability Architecture · γ=11.4 · δ=0.21</a:t>
            </a:r>
            <a:endParaRPr lang="en-US" sz="1000" dirty="0"/>
          </a:p>
        </p:txBody>
      </p:sp>
      <p:pic>
        <p:nvPicPr>
          <p:cNvPr id="19" name="Image 0" descr="/home/claude/deck/images/gel_grid_val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5669280" cy="3200400"/>
          </a:xfrm>
          <a:prstGeom prst="rect">
            <a:avLst/>
          </a:prstGeom>
        </p:spPr>
      </p:pic>
      <p:pic>
        <p:nvPicPr>
          <p:cNvPr id="20" name="Image 1" descr="/home/claude/deck/images/gel_grid_val_au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828800"/>
            <a:ext cx="5486400" cy="32004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7200" y="5074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F1 surface  ·  best (γ=10.4, δ=0.19) = 0.7394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21792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AUC surface  ·  best (γ=11.4, δ=0.21) = 0.9060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7200" y="5440680"/>
            <a:ext cx="11247120" cy="914400"/>
          </a:xfrm>
          <a:prstGeom prst="rect">
            <a:avLst/>
          </a:prstGeom>
          <a:solidFill>
            <a:srgbClr val="1B2A41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40080" y="5504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contribution — 1D sweeps produce a false dilemma when parameters interact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40080" y="58338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1D sweeps suggested δ=0.55 maximised F1 vs δ=0.20 maximised AUC — an artefact of fixing γ. </a:t>
            </a: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optimum (γ=11.4, δ=0.21)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satisfies both objectives at a strictly better operating point. AUC-optimal config = canonical.</a:t>
            </a:r>
            <a:endParaRPr lang="en-US" sz="1100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078F3B97-01F0-3131-4FB0-145458B8D71D}"/>
              </a:ext>
            </a:extLst>
          </p:cNvPr>
          <p:cNvSpPr/>
          <p:nvPr/>
        </p:nvSpPr>
        <p:spPr>
          <a:xfrm>
            <a:off x="457200" y="1371600"/>
            <a:ext cx="4572000" cy="329184"/>
          </a:xfrm>
          <a:prstGeom prst="rect">
            <a:avLst/>
          </a:prstGeom>
          <a:solidFill>
            <a:srgbClr val="152339"/>
          </a:solidFill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CB5723E0-D53E-790D-F6AB-731551A82040}"/>
              </a:ext>
            </a:extLst>
          </p:cNvPr>
          <p:cNvSpPr/>
          <p:nvPr/>
        </p:nvSpPr>
        <p:spPr>
          <a:xfrm>
            <a:off x="457200" y="13716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</a:t>
            </a:r>
            <a:endParaRPr lang="en-US" sz="11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2D67586F-3B81-D0BA-0A1B-ACF3B05D40FA}"/>
              </a:ext>
            </a:extLst>
          </p:cNvPr>
          <p:cNvSpPr/>
          <p:nvPr/>
        </p:nvSpPr>
        <p:spPr>
          <a:xfrm>
            <a:off x="1600200" y="13716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OAM</a:t>
            </a:r>
            <a:endParaRPr lang="en-US" sz="1100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00B3FDCF-76E1-F1E2-AB4A-B35B8B75D890}"/>
              </a:ext>
            </a:extLst>
          </p:cNvPr>
          <p:cNvSpPr/>
          <p:nvPr/>
        </p:nvSpPr>
        <p:spPr>
          <a:xfrm>
            <a:off x="1600200" y="1408176"/>
            <a:ext cx="0" cy="256032"/>
          </a:xfrm>
          <a:prstGeom prst="line">
            <a:avLst/>
          </a:prstGeom>
          <a:noFill/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A9F1751A-EAB4-21A2-F6B9-EF1538DDA2C9}"/>
              </a:ext>
            </a:extLst>
          </p:cNvPr>
          <p:cNvSpPr/>
          <p:nvPr/>
        </p:nvSpPr>
        <p:spPr>
          <a:xfrm>
            <a:off x="2743200" y="1371600"/>
            <a:ext cx="1143000" cy="329184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</a:rPr>
              <a:t>PDWF</a:t>
            </a:r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08ADB4FE-706B-9762-1334-93F43CA197CA}"/>
              </a:ext>
            </a:extLst>
          </p:cNvPr>
          <p:cNvSpPr/>
          <p:nvPr/>
        </p:nvSpPr>
        <p:spPr>
          <a:xfrm>
            <a:off x="2743200" y="1408176"/>
            <a:ext cx="0" cy="256032"/>
          </a:xfrm>
          <a:prstGeom prst="line">
            <a:avLst/>
          </a:prstGeom>
          <a:noFill/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FD942AE2-52AD-6BF5-3635-7498D84F449D}"/>
              </a:ext>
            </a:extLst>
          </p:cNvPr>
          <p:cNvSpPr/>
          <p:nvPr/>
        </p:nvSpPr>
        <p:spPr>
          <a:xfrm>
            <a:off x="3886200" y="13716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A9C2"/>
                </a:solidFill>
                <a:latin typeface="Consolas" pitchFamily="34" charset="0"/>
              </a:rPr>
              <a:t>BVG</a:t>
            </a:r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CED96B97-C5F3-DF68-9A2D-94217162EEDE}"/>
              </a:ext>
            </a:extLst>
          </p:cNvPr>
          <p:cNvSpPr/>
          <p:nvPr/>
        </p:nvSpPr>
        <p:spPr>
          <a:xfrm>
            <a:off x="3886200" y="1408176"/>
            <a:ext cx="0" cy="256032"/>
          </a:xfrm>
          <a:prstGeom prst="line">
            <a:avLst/>
          </a:prstGeom>
          <a:noFill/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F136DF-B584-5E5E-9BF9-976E17345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F120F5-DB83-CE42-8EC1-935983A0CCC8}"/>
              </a:ext>
            </a:extLst>
          </p:cNvPr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86E9728-223D-D081-19A3-F0AC11FA3DDF}"/>
              </a:ext>
            </a:extLst>
          </p:cNvPr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F73BFD-3474-0034-869C-5FE691230936}"/>
              </a:ext>
            </a:extLst>
          </p:cNvPr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 4 · GEL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7864BBE-B268-2DA6-8357-C07BEEDC1CB1}"/>
              </a:ext>
            </a:extLst>
          </p:cNvPr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r">
              <a:defRPr/>
            </a:pPr>
            <a:r>
              <a:rPr kumimoji="0" lang="tr-TR" sz="900" b="0" i="0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3BFD171-A939-490D-C244-BD4C2398EA3B}"/>
              </a:ext>
            </a:extLst>
          </p:cNvPr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1CB712-8FE4-D17D-F0FB-2857B1A9D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29" y="292608"/>
            <a:ext cx="11089341" cy="60487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95649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GEL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OF 4 · BVG · </a:t>
            </a:r>
            <a:r>
              <a:rPr lang="tr-TR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</a:t>
            </a: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Leads Both Val Metrics — Across All Models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572000" cy="329184"/>
          </a:xfrm>
          <a:prstGeom prst="rect">
            <a:avLst/>
          </a:prstGeom>
          <a:solidFill>
            <a:srgbClr val="152339"/>
          </a:solidFill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13716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00200" y="1408176"/>
            <a:ext cx="0" cy="256032"/>
          </a:xfrm>
          <a:prstGeom prst="line">
            <a:avLst/>
          </a:prstGeom>
          <a:noFill/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13716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PDWF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1408176"/>
            <a:ext cx="0" cy="256032"/>
          </a:xfrm>
          <a:prstGeom prst="line">
            <a:avLst/>
          </a:prstGeom>
          <a:noFill/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86200" y="1371600"/>
            <a:ext cx="114300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86200" y="13716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BVG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86200" y="1408176"/>
            <a:ext cx="0" cy="256032"/>
          </a:xfrm>
          <a:prstGeom prst="line">
            <a:avLst/>
          </a:prstGeom>
          <a:noFill/>
          <a:ln w="635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0" y="13716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1371600"/>
            <a:ext cx="29700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Reliability Architecture · γ=11.4 · δ=0.21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874520"/>
            <a:ext cx="11247120" cy="361188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F1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9496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AUC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3816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509760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2377440"/>
            <a:ext cx="10972800" cy="18288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(E6)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2336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68.92%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9496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0.8888</a:t>
            </a:r>
            <a:endParaRPr lang="en-US" sz="1300" u="sng" dirty="0"/>
          </a:p>
        </p:txBody>
      </p:sp>
      <p:sp>
        <p:nvSpPr>
          <p:cNvPr id="31" name="Text 29"/>
          <p:cNvSpPr/>
          <p:nvPr/>
        </p:nvSpPr>
        <p:spPr>
          <a:xfrm>
            <a:off x="676656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68.85%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3816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dirty="0">
                <a:solidFill>
                  <a:srgbClr val="48CAE4"/>
                </a:solidFill>
                <a:latin typeface="Consolas" pitchFamily="34" charset="0"/>
              </a:rPr>
              <a:t>0.8987</a:t>
            </a:r>
          </a:p>
        </p:txBody>
      </p:sp>
      <p:sp>
        <p:nvSpPr>
          <p:cNvPr id="33" name="Text 31"/>
          <p:cNvSpPr/>
          <p:nvPr/>
        </p:nvSpPr>
        <p:spPr>
          <a:xfrm>
            <a:off x="9509760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0.525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0" y="2514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CAALMIX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32278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DenseNet-169 (D1)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023360" y="32278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72.39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94960" y="32278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0.8439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66560" y="32278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68.38%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138160" y="32278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0.8467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509760" y="32278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515600" y="32278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ind. F1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39410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EfficientNet-B3 (F1)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023360" y="394106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67.07%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94960" y="394106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0.8825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766560" y="394106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56.34%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138160" y="394106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0.8179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509760" y="39410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0.525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515600" y="39410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Diversity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2920" y="4617720"/>
            <a:ext cx="11155680" cy="594360"/>
          </a:xfrm>
          <a:prstGeom prst="rect">
            <a:avLst/>
          </a:prstGeom>
          <a:solidFill>
            <a:srgbClr val="1B2A41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0080" y="46542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v3  ★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023360" y="46542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u="sng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73.94%</a:t>
            </a:r>
            <a:endParaRPr lang="en-US" sz="1300" u="sng" dirty="0"/>
          </a:p>
        </p:txBody>
      </p:sp>
      <p:sp>
        <p:nvSpPr>
          <p:cNvPr id="52" name="Text 50"/>
          <p:cNvSpPr/>
          <p:nvPr/>
        </p:nvSpPr>
        <p:spPr>
          <a:xfrm>
            <a:off x="5394960" y="46542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u="sng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0.9060</a:t>
            </a:r>
            <a:endParaRPr lang="en-US" sz="1300" u="sng" dirty="0"/>
          </a:p>
        </p:txBody>
      </p:sp>
      <p:sp>
        <p:nvSpPr>
          <p:cNvPr id="53" name="Text 51"/>
          <p:cNvSpPr/>
          <p:nvPr/>
        </p:nvSpPr>
        <p:spPr>
          <a:xfrm>
            <a:off x="6766560" y="46542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67.18%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138160" y="46542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8CAE4"/>
                </a:solidFill>
                <a:latin typeface="Consolas" pitchFamily="34" charset="0"/>
              </a:rPr>
              <a:t>0.8916</a:t>
            </a:r>
          </a:p>
        </p:txBody>
      </p:sp>
      <p:sp>
        <p:nvSpPr>
          <p:cNvPr id="55" name="Text 53"/>
          <p:cNvSpPr/>
          <p:nvPr/>
        </p:nvSpPr>
        <p:spPr>
          <a:xfrm>
            <a:off x="9509760" y="46542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0.400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515600" y="46542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γ=11.4, δ=0.21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5623560"/>
            <a:ext cx="5532120" cy="731520"/>
          </a:xfrm>
          <a:prstGeom prst="rect">
            <a:avLst/>
          </a:prstGeom>
          <a:solidFill>
            <a:srgbClr val="1B2A41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40080" y="56875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BVG GATE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0080" y="5943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P_final ≥ τ=0.35  ·  </a:t>
            </a:r>
            <a:r>
              <a:rPr lang="en-US" sz="10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pass 18.4% · test pass 20.8%  </a:t>
            </a:r>
            <a:r>
              <a:rPr lang="en-US" sz="1000" i="1" dirty="0">
                <a:solidFill>
                  <a:srgbClr val="9AA9C2"/>
                </a:solidFill>
              </a:rPr>
              <a:t>—  bbox shown only if both YOLO detects and GEL agrees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172200" y="5623560"/>
            <a:ext cx="5532120" cy="731520"/>
          </a:xfrm>
          <a:prstGeom prst="rect">
            <a:avLst/>
          </a:prstGeom>
          <a:solidFill>
            <a:srgbClr val="1B2A41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355080" y="56875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VAL CLAIMS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355080" y="5943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+1.72pp AUC  </a:t>
            </a:r>
            <a:r>
              <a:rPr lang="en-US" sz="1000" dirty="0">
                <a:solidFill>
                  <a:srgbClr val="FFFFFF"/>
                </a:solidFill>
              </a:rPr>
              <a:t>over best individual  ·  </a:t>
            </a:r>
            <a:r>
              <a:rPr lang="en-US" sz="1000" b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+1.55pp F1  </a:t>
            </a:r>
            <a:r>
              <a:rPr lang="en-US" sz="1000" dirty="0">
                <a:solidFill>
                  <a:srgbClr val="FFFFFF"/>
                </a:solidFill>
              </a:rPr>
              <a:t>over DenseNet (prior F1 leader)</a:t>
            </a:r>
            <a:endParaRPr lang="en-US" sz="1000" dirty="0"/>
          </a:p>
        </p:txBody>
      </p:sp>
      <p:sp>
        <p:nvSpPr>
          <p:cNvPr id="63" name="Text 16">
            <a:extLst>
              <a:ext uri="{FF2B5EF4-FFF2-40B4-BE49-F238E27FC236}">
                <a16:creationId xmlns:a16="http://schemas.microsoft.com/office/drawing/2014/main" id="{CCB42D13-DB04-CDB7-899A-7996330FCAE0}"/>
              </a:ext>
            </a:extLst>
          </p:cNvPr>
          <p:cNvSpPr/>
          <p:nvPr/>
        </p:nvSpPr>
        <p:spPr>
          <a:xfrm>
            <a:off x="8943191" y="475488"/>
            <a:ext cx="29260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Radiologists miss approximately </a:t>
            </a:r>
            <a:r>
              <a:rPr lang="en-US" sz="1000" b="1" u="sng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 of fractures</a:t>
            </a:r>
            <a:r>
              <a:rPr lang="tr-TR" sz="1000" b="1" u="sng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b="1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radiographic interpretation</a:t>
            </a:r>
            <a:r>
              <a:rPr lang="en-US" sz="10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emergency settings (</a:t>
            </a:r>
            <a:r>
              <a:rPr lang="en-US" sz="1000" dirty="0" err="1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Guly</a:t>
            </a:r>
            <a:r>
              <a:rPr lang="en-US" sz="10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2001; </a:t>
            </a:r>
            <a:r>
              <a:rPr lang="en-US" sz="1000" dirty="0" err="1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Petinaux</a:t>
            </a:r>
            <a:r>
              <a:rPr lang="en-US" sz="10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et al., 2011).</a:t>
            </a:r>
            <a:endParaRPr lang="tr-TR" sz="1000" dirty="0">
              <a:solidFill>
                <a:srgbClr val="9AA9C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7FAC0-9969-0B4F-116F-3AF2522F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242A4D-E679-697F-3454-3E03B15EB984}"/>
              </a:ext>
            </a:extLst>
          </p:cNvPr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E4C788-6782-8BB1-1D7C-290D44382432}"/>
              </a:ext>
            </a:extLst>
          </p:cNvPr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339AEC0-9116-6C83-545B-5FA80465DF6E}"/>
              </a:ext>
            </a:extLst>
          </p:cNvPr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 4 · GEL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EE37B7F-6423-EAE8-7482-EF75C102D6C4}"/>
              </a:ext>
            </a:extLst>
          </p:cNvPr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900" b="0" i="0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kumimoji="0" lang="tr-TR" sz="900" b="0" i="0" u="none" strike="noStrike" kern="1200" cap="none" spc="0" normalizeH="0" baseline="0" noProof="0" dirty="0">
                <a:ln>
                  <a:noFill/>
                </a:ln>
                <a:solidFill>
                  <a:srgbClr val="9AA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8B050E3-97F7-B380-4201-BD558C7E2FF0}"/>
              </a:ext>
            </a:extLst>
          </p:cNvPr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40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STAGE 4 OF 4 ·</a:t>
            </a:r>
            <a:r>
              <a:rPr kumimoji="0" lang="tr-TR" sz="1000" b="1" i="0" u="none" strike="noStrike" kern="0" cap="none" spc="40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GEL</a:t>
            </a:r>
            <a:r>
              <a:rPr kumimoji="0" lang="en-US" sz="1000" b="1" i="0" u="none" strike="noStrike" kern="0" cap="none" spc="40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FINAL RESULTS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4E3CDD4-A244-7A71-10E3-201DDF962692}"/>
              </a:ext>
            </a:extLst>
          </p:cNvPr>
          <p:cNvSpPr/>
          <p:nvPr/>
        </p:nvSpPr>
        <p:spPr>
          <a:xfrm>
            <a:off x="59436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GEL Guidance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Shape 3">
            <a:extLst>
              <a:ext uri="{FF2B5EF4-FFF2-40B4-BE49-F238E27FC236}">
                <a16:creationId xmlns:a16="http://schemas.microsoft.com/office/drawing/2014/main" id="{5574A080-80FF-A58E-F04D-3632F888C726}"/>
              </a:ext>
            </a:extLst>
          </p:cNvPr>
          <p:cNvSpPr/>
          <p:nvPr/>
        </p:nvSpPr>
        <p:spPr>
          <a:xfrm>
            <a:off x="548640" y="1532067"/>
            <a:ext cx="5440680" cy="4434840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rgbClr val="E5DCD2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7" name="Shape 4">
            <a:extLst>
              <a:ext uri="{FF2B5EF4-FFF2-40B4-BE49-F238E27FC236}">
                <a16:creationId xmlns:a16="http://schemas.microsoft.com/office/drawing/2014/main" id="{209B1D50-977F-0550-4610-5AFDF702085F}"/>
              </a:ext>
            </a:extLst>
          </p:cNvPr>
          <p:cNvSpPr/>
          <p:nvPr/>
        </p:nvSpPr>
        <p:spPr>
          <a:xfrm>
            <a:off x="548640" y="1532067"/>
            <a:ext cx="91440" cy="44348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2F7D3B"/>
            </a:solidFill>
            <a:prstDash val="solid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8" name="Text 5">
            <a:extLst>
              <a:ext uri="{FF2B5EF4-FFF2-40B4-BE49-F238E27FC236}">
                <a16:creationId xmlns:a16="http://schemas.microsoft.com/office/drawing/2014/main" id="{8E9E68F1-1A18-3ABA-6051-29615CB17F69}"/>
              </a:ext>
            </a:extLst>
          </p:cNvPr>
          <p:cNvSpPr/>
          <p:nvPr/>
        </p:nvSpPr>
        <p:spPr>
          <a:xfrm>
            <a:off x="822960" y="1760667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200" b="1" i="0" u="none" strike="noStrike" kern="0" cap="none" spc="60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USE GEL &amp; STRENGTHS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9" name="Text 6">
            <a:extLst>
              <a:ext uri="{FF2B5EF4-FFF2-40B4-BE49-F238E27FC236}">
                <a16:creationId xmlns:a16="http://schemas.microsoft.com/office/drawing/2014/main" id="{7AADFF18-F619-F4E5-DB1C-37D259528F4E}"/>
              </a:ext>
            </a:extLst>
          </p:cNvPr>
          <p:cNvSpPr/>
          <p:nvPr/>
        </p:nvSpPr>
        <p:spPr>
          <a:xfrm>
            <a:off x="822960" y="2172147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34" charset="0"/>
              </a:rPr>
              <a:t>True Estimator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90" name="Text 7">
            <a:extLst>
              <a:ext uri="{FF2B5EF4-FFF2-40B4-BE49-F238E27FC236}">
                <a16:creationId xmlns:a16="http://schemas.microsoft.com/office/drawing/2014/main" id="{0A013A38-DE70-29F0-1E41-876EB4C0F88B}"/>
              </a:ext>
            </a:extLst>
          </p:cNvPr>
          <p:cNvSpPr/>
          <p:nvPr/>
        </p:nvSpPr>
        <p:spPr>
          <a:xfrm>
            <a:off x="822960" y="2492187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marR="0" lvl="0" indent="-17145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Each model is a true estimator (F1 ~0.65–0.80)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91" name="Text 8">
            <a:extLst>
              <a:ext uri="{FF2B5EF4-FFF2-40B4-BE49-F238E27FC236}">
                <a16:creationId xmlns:a16="http://schemas.microsoft.com/office/drawing/2014/main" id="{6138F1FF-60BA-F63C-5BB2-26D433622FAE}"/>
              </a:ext>
            </a:extLst>
          </p:cNvPr>
          <p:cNvSpPr/>
          <p:nvPr/>
        </p:nvSpPr>
        <p:spPr>
          <a:xfrm>
            <a:off x="822960" y="3132267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34" charset="0"/>
              </a:rPr>
              <a:t>Architectural Diversity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92" name="Text 9">
            <a:extLst>
              <a:ext uri="{FF2B5EF4-FFF2-40B4-BE49-F238E27FC236}">
                <a16:creationId xmlns:a16="http://schemas.microsoft.com/office/drawing/2014/main" id="{2EA71401-C647-555C-5D29-3C273C896D99}"/>
              </a:ext>
            </a:extLst>
          </p:cNvPr>
          <p:cNvSpPr/>
          <p:nvPr/>
        </p:nvSpPr>
        <p:spPr>
          <a:xfrm>
            <a:off x="822960" y="3452307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marR="0" lvl="0" indent="-17145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Architecturally diverse models with different </a:t>
            </a:r>
            <a:r>
              <a:rPr kumimoji="0" lang="tr-TR" sz="1100" b="0" i="0" u="sng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inherent</a:t>
            </a:r>
            <a:r>
              <a:rPr kumimoji="0" lang="tr-TR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&amp; </a:t>
            </a:r>
            <a:r>
              <a:rPr kumimoji="0" lang="en-US" sz="1100" b="0" i="0" u="sng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inductive biases</a:t>
            </a:r>
            <a:endParaRPr kumimoji="0" lang="en-US" sz="1100" b="0" i="0" u="sng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93" name="Text 10">
            <a:extLst>
              <a:ext uri="{FF2B5EF4-FFF2-40B4-BE49-F238E27FC236}">
                <a16:creationId xmlns:a16="http://schemas.microsoft.com/office/drawing/2014/main" id="{58C28E36-96AB-7E50-8342-FC8454312FA4}"/>
              </a:ext>
            </a:extLst>
          </p:cNvPr>
          <p:cNvSpPr/>
          <p:nvPr/>
        </p:nvSpPr>
        <p:spPr>
          <a:xfrm>
            <a:off x="822960" y="4092387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Error </a:t>
            </a:r>
            <a:r>
              <a:rPr lang="tr-TR" sz="1500" b="1" kern="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ndependence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94" name="Text 11">
            <a:extLst>
              <a:ext uri="{FF2B5EF4-FFF2-40B4-BE49-F238E27FC236}">
                <a16:creationId xmlns:a16="http://schemas.microsoft.com/office/drawing/2014/main" id="{446CE560-3FD1-AA6F-CF0E-976D893EF916}"/>
              </a:ext>
            </a:extLst>
          </p:cNvPr>
          <p:cNvSpPr/>
          <p:nvPr/>
        </p:nvSpPr>
        <p:spPr>
          <a:xfrm>
            <a:off x="822960" y="4412427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marR="0" lvl="0" indent="-17145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tr-TR" sz="1100" kern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F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ailures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don't cluster on the same samples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95" name="Text 12">
            <a:extLst>
              <a:ext uri="{FF2B5EF4-FFF2-40B4-BE49-F238E27FC236}">
                <a16:creationId xmlns:a16="http://schemas.microsoft.com/office/drawing/2014/main" id="{D61DA724-4734-3FA8-D118-EE27DAB642DA}"/>
              </a:ext>
            </a:extLst>
          </p:cNvPr>
          <p:cNvSpPr/>
          <p:nvPr/>
        </p:nvSpPr>
        <p:spPr>
          <a:xfrm>
            <a:off x="822960" y="5052507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Mixture of Similar Non-Dominant Experts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96" name="Text 13">
            <a:extLst>
              <a:ext uri="{FF2B5EF4-FFF2-40B4-BE49-F238E27FC236}">
                <a16:creationId xmlns:a16="http://schemas.microsoft.com/office/drawing/2014/main" id="{4187078B-657D-F930-064D-D41320BCF23D}"/>
              </a:ext>
            </a:extLst>
          </p:cNvPr>
          <p:cNvSpPr/>
          <p:nvPr/>
        </p:nvSpPr>
        <p:spPr>
          <a:xfrm>
            <a:off x="822960" y="5372547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 defTabSz="457200">
              <a:buFont typeface="Wingdings" panose="05000000000000000000" pitchFamily="2" charset="2"/>
              <a:buChar char="ü"/>
            </a:pPr>
            <a:r>
              <a:rPr kumimoji="0" lang="tr-TR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Cluster of </a:t>
            </a:r>
            <a:r>
              <a:rPr lang="en-US" sz="1100" kern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(F1 ~0.65–0.80) </a:t>
            </a:r>
            <a:r>
              <a:rPr lang="tr-TR" sz="1100" kern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Models &amp; </a:t>
            </a:r>
            <a:r>
              <a:rPr lang="en-US" sz="1100" kern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No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single model dominates above ~0.85–0.87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97" name="Shape 14">
            <a:extLst>
              <a:ext uri="{FF2B5EF4-FFF2-40B4-BE49-F238E27FC236}">
                <a16:creationId xmlns:a16="http://schemas.microsoft.com/office/drawing/2014/main" id="{45DF9338-0987-578E-F206-318021B0BF43}"/>
              </a:ext>
            </a:extLst>
          </p:cNvPr>
          <p:cNvSpPr/>
          <p:nvPr/>
        </p:nvSpPr>
        <p:spPr>
          <a:xfrm>
            <a:off x="6217920" y="1532067"/>
            <a:ext cx="5440680" cy="4434840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rgbClr val="E5DCD2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defTabSz="457200"/>
            <a:endParaRPr lang="en-US" kern="0" dirty="0">
              <a:solidFill>
                <a:prstClr val="black"/>
              </a:solidFill>
            </a:endParaRPr>
          </a:p>
        </p:txBody>
      </p:sp>
      <p:sp>
        <p:nvSpPr>
          <p:cNvPr id="98" name="Shape 15">
            <a:extLst>
              <a:ext uri="{FF2B5EF4-FFF2-40B4-BE49-F238E27FC236}">
                <a16:creationId xmlns:a16="http://schemas.microsoft.com/office/drawing/2014/main" id="{43E9083B-1348-F646-6117-257E6A32DAFC}"/>
              </a:ext>
            </a:extLst>
          </p:cNvPr>
          <p:cNvSpPr/>
          <p:nvPr/>
        </p:nvSpPr>
        <p:spPr>
          <a:xfrm>
            <a:off x="6217920" y="1532067"/>
            <a:ext cx="91440" cy="4434840"/>
          </a:xfrm>
          <a:prstGeom prst="rect">
            <a:avLst/>
          </a:prstGeom>
          <a:solidFill>
            <a:srgbClr val="9B1B2C"/>
          </a:solidFill>
          <a:ln w="12700">
            <a:solidFill>
              <a:srgbClr val="9B1B2C"/>
            </a:solidFill>
            <a:prstDash val="solid"/>
          </a:ln>
        </p:spPr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9" name="Text 16">
            <a:extLst>
              <a:ext uri="{FF2B5EF4-FFF2-40B4-BE49-F238E27FC236}">
                <a16:creationId xmlns:a16="http://schemas.microsoft.com/office/drawing/2014/main" id="{9B0E3EB6-907F-0C86-B0D8-AC0F78C3D0CC}"/>
              </a:ext>
            </a:extLst>
          </p:cNvPr>
          <p:cNvSpPr/>
          <p:nvPr/>
        </p:nvSpPr>
        <p:spPr>
          <a:xfrm>
            <a:off x="6492240" y="1760667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200" b="1" i="0" u="none" strike="noStrike" kern="0" cap="none" spc="60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DO NOT USE GEL &amp; </a:t>
            </a:r>
            <a:r>
              <a:rPr kumimoji="0" lang="en-US" sz="1200" b="1" i="0" u="none" strike="noStrike" kern="0" cap="none" spc="60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WEAKNESSES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</a:endParaRPr>
          </a:p>
        </p:txBody>
      </p:sp>
      <p:sp>
        <p:nvSpPr>
          <p:cNvPr id="100" name="Text 17">
            <a:extLst>
              <a:ext uri="{FF2B5EF4-FFF2-40B4-BE49-F238E27FC236}">
                <a16:creationId xmlns:a16="http://schemas.microsoft.com/office/drawing/2014/main" id="{EF4B706E-3035-46A7-C25E-87AA3EDF8F6D}"/>
              </a:ext>
            </a:extLst>
          </p:cNvPr>
          <p:cNvSpPr/>
          <p:nvPr/>
        </p:nvSpPr>
        <p:spPr>
          <a:xfrm>
            <a:off x="6492240" y="2172147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Dominant Expert Models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01" name="Text 18">
            <a:extLst>
              <a:ext uri="{FF2B5EF4-FFF2-40B4-BE49-F238E27FC236}">
                <a16:creationId xmlns:a16="http://schemas.microsoft.com/office/drawing/2014/main" id="{1752ACE6-719B-1C41-C631-5F8DD2930D70}"/>
              </a:ext>
            </a:extLst>
          </p:cNvPr>
          <p:cNvSpPr/>
          <p:nvPr/>
        </p:nvSpPr>
        <p:spPr>
          <a:xfrm>
            <a:off x="6492240" y="2492187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marR="0" lvl="0" indent="-17145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One model at ~0.90+ F1 </a:t>
            </a:r>
            <a:r>
              <a:rPr kumimoji="0" lang="tr-TR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W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eaker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models dilute the expert </a:t>
            </a:r>
            <a:endParaRPr kumimoji="0" lang="tr-TR" sz="11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Calibri" pitchFamily="34" charset="-122"/>
              <a:cs typeface="Calibri" pitchFamily="34" charset="-120"/>
            </a:endParaRPr>
          </a:p>
          <a:p>
            <a:pPr marL="628650" lvl="1" indent="-171450" defTabSz="457200">
              <a:buFont typeface="Wingdings" panose="05000000000000000000" pitchFamily="2" charset="2"/>
              <a:buChar char="ü"/>
            </a:pPr>
            <a:r>
              <a:rPr lang="tr-TR" sz="1100" kern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D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on't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hold a committee vote when one member knows the answer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02" name="Text 19">
            <a:extLst>
              <a:ext uri="{FF2B5EF4-FFF2-40B4-BE49-F238E27FC236}">
                <a16:creationId xmlns:a16="http://schemas.microsoft.com/office/drawing/2014/main" id="{596BA8B8-EC62-EA06-A3BD-8673A1B2DF0C}"/>
              </a:ext>
            </a:extLst>
          </p:cNvPr>
          <p:cNvSpPr/>
          <p:nvPr/>
        </p:nvSpPr>
        <p:spPr>
          <a:xfrm>
            <a:off x="6492240" y="3132267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Correlated </a:t>
            </a:r>
            <a:r>
              <a:rPr kumimoji="0" lang="tr-TR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ailures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03" name="Text 20">
            <a:extLst>
              <a:ext uri="{FF2B5EF4-FFF2-40B4-BE49-F238E27FC236}">
                <a16:creationId xmlns:a16="http://schemas.microsoft.com/office/drawing/2014/main" id="{1EF141EA-F88F-F31E-002C-0D6A8C017D49}"/>
              </a:ext>
            </a:extLst>
          </p:cNvPr>
          <p:cNvSpPr/>
          <p:nvPr/>
        </p:nvSpPr>
        <p:spPr>
          <a:xfrm>
            <a:off x="6492240" y="3452307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marR="0" lvl="0" indent="-17145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tr-TR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A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ll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models fail on the same samples, </a:t>
            </a:r>
            <a:endParaRPr kumimoji="0" lang="tr-TR" sz="11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Calibri" pitchFamily="34" charset="-122"/>
              <a:cs typeface="Calibri" pitchFamily="34" charset="-120"/>
            </a:endParaRPr>
          </a:p>
          <a:p>
            <a:pPr marL="171450" marR="0" lvl="0" indent="-17145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OAM sees false "consensus", </a:t>
            </a:r>
            <a:endParaRPr kumimoji="0" lang="tr-TR" sz="11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Calibri" pitchFamily="34" charset="-122"/>
              <a:cs typeface="Calibri" pitchFamily="34" charset="-120"/>
            </a:endParaRPr>
          </a:p>
          <a:p>
            <a:pPr marL="171450" marR="0" lvl="0" indent="-17145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tr-TR" sz="1100" kern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nsemble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becomes overconfident in the wrong direction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04" name="Text 21">
            <a:extLst>
              <a:ext uri="{FF2B5EF4-FFF2-40B4-BE49-F238E27FC236}">
                <a16:creationId xmlns:a16="http://schemas.microsoft.com/office/drawing/2014/main" id="{BAEC5D17-BA80-13D6-CA18-377326265E83}"/>
              </a:ext>
            </a:extLst>
          </p:cNvPr>
          <p:cNvSpPr/>
          <p:nvPr/>
        </p:nvSpPr>
        <p:spPr>
          <a:xfrm>
            <a:off x="6492240" y="4172173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Low Prediction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kumimoji="0" lang="tr-TR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iversity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05" name="Text 22">
            <a:extLst>
              <a:ext uri="{FF2B5EF4-FFF2-40B4-BE49-F238E27FC236}">
                <a16:creationId xmlns:a16="http://schemas.microsoft.com/office/drawing/2014/main" id="{81546C9E-D60D-933D-0055-0FF89A8681BF}"/>
              </a:ext>
            </a:extLst>
          </p:cNvPr>
          <p:cNvSpPr/>
          <p:nvPr/>
        </p:nvSpPr>
        <p:spPr>
          <a:xfrm>
            <a:off x="6492240" y="4412427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marR="0" lvl="0" indent="-17145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tr-TR" sz="1100" kern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All models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predict</a:t>
            </a:r>
            <a:r>
              <a:rPr lang="tr-TR" sz="1100" kern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same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labels, PDWF reduces to a constant multiplier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06" name="Text 23">
            <a:extLst>
              <a:ext uri="{FF2B5EF4-FFF2-40B4-BE49-F238E27FC236}">
                <a16:creationId xmlns:a16="http://schemas.microsoft.com/office/drawing/2014/main" id="{495B06D7-441E-4A18-CE3C-6C6166156050}"/>
              </a:ext>
            </a:extLst>
          </p:cNvPr>
          <p:cNvSpPr/>
          <p:nvPr/>
        </p:nvSpPr>
        <p:spPr>
          <a:xfrm>
            <a:off x="6492240" y="5052507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Homogeneous </a:t>
            </a:r>
            <a:r>
              <a:rPr kumimoji="0" lang="tr-TR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rchitectures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07" name="Text 24">
            <a:extLst>
              <a:ext uri="{FF2B5EF4-FFF2-40B4-BE49-F238E27FC236}">
                <a16:creationId xmlns:a16="http://schemas.microsoft.com/office/drawing/2014/main" id="{11F65776-3963-4F60-DDF1-F381691B69C8}"/>
              </a:ext>
            </a:extLst>
          </p:cNvPr>
          <p:cNvSpPr/>
          <p:nvPr/>
        </p:nvSpPr>
        <p:spPr>
          <a:xfrm>
            <a:off x="6492240" y="5372547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marR="0" lvl="0" indent="-17145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e.g. three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ResNets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 with different seeds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909532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· FRACASSIST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System Architecture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463040" cy="1005840"/>
          </a:xfrm>
          <a:prstGeom prst="rect">
            <a:avLst/>
          </a:prstGeom>
          <a:solidFill>
            <a:srgbClr val="152339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JPEG / PNG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65960" y="3429000"/>
            <a:ext cx="6400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317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0" y="1828800"/>
            <a:ext cx="2194560" cy="777240"/>
          </a:xfrm>
          <a:prstGeom prst="rect">
            <a:avLst/>
          </a:prstGeom>
          <a:solidFill>
            <a:srgbClr val="1B2A41"/>
          </a:solidFill>
          <a:ln w="15875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8036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Y1B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22128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imgsz=600 · conf=0.25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60520" y="23774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0" y="2770632"/>
            <a:ext cx="2194560" cy="777240"/>
          </a:xfrm>
          <a:prstGeom prst="rect">
            <a:avLst/>
          </a:prstGeom>
          <a:solidFill>
            <a:srgbClr val="1B2A41"/>
          </a:solidFill>
          <a:ln w="15875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80360" y="2862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E6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3154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CLAHE · thr=0.525 (val)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60520" y="33192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0" y="3712464"/>
            <a:ext cx="2194560" cy="777240"/>
          </a:xfrm>
          <a:prstGeom prst="rect">
            <a:avLst/>
          </a:prstGeom>
          <a:solidFill>
            <a:srgbClr val="1B2A41"/>
          </a:solidFill>
          <a:ln w="15875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880360" y="3803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DenseNet-169 D1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80360" y="40965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thr=0.175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60520" y="42611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0" y="4654296"/>
            <a:ext cx="2194560" cy="777240"/>
          </a:xfrm>
          <a:prstGeom prst="rect">
            <a:avLst/>
          </a:prstGeom>
          <a:solidFill>
            <a:srgbClr val="1B2A41"/>
          </a:solidFill>
          <a:ln w="15875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880360" y="47457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EfficientNet-B3 F1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80360" y="5038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thr=0.525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60520" y="52029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983480" y="3429000"/>
            <a:ext cx="6400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66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2286000"/>
            <a:ext cx="3108960" cy="2286000"/>
          </a:xfrm>
          <a:prstGeom prst="rect">
            <a:avLst/>
          </a:prstGeom>
          <a:solidFill>
            <a:srgbClr val="152339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6928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Pipeline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2743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classifiers fused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consumed for bbox only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06440" y="3337560"/>
            <a:ext cx="685800" cy="36576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806440" y="33375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92240" y="3337560"/>
            <a:ext cx="685800" cy="36576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92240" y="33375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178040" y="3337560"/>
            <a:ext cx="685800" cy="36576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178040" y="33375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PDWF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63840" y="3337560"/>
            <a:ext cx="685800" cy="36576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863840" y="33375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BVG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06440" y="3840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γ=11.4 · δ=0.21 · τ=0.35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06440" y="4160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P_final + bbox decision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823960" y="3429000"/>
            <a:ext cx="5943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9611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418320" y="2011680"/>
            <a:ext cx="2194560" cy="548640"/>
          </a:xfrm>
          <a:prstGeom prst="rect">
            <a:avLst/>
          </a:prstGeom>
          <a:solidFill>
            <a:srgbClr val="1B2A41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555480" y="20116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P_final fracture probability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418320" y="2651760"/>
            <a:ext cx="2194560" cy="548640"/>
          </a:xfrm>
          <a:prstGeom prst="rect">
            <a:avLst/>
          </a:prstGeom>
          <a:solidFill>
            <a:srgbClr val="1B2A41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555480" y="26517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bbox overlay (if gated)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418320" y="3291840"/>
            <a:ext cx="2194560" cy="548640"/>
          </a:xfrm>
          <a:prstGeom prst="rect">
            <a:avLst/>
          </a:prstGeom>
          <a:solidFill>
            <a:srgbClr val="1B2A41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555480" y="3291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 heatmap (DenseNet)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418320" y="3931920"/>
            <a:ext cx="2194560" cy="548640"/>
          </a:xfrm>
          <a:prstGeom prst="rect">
            <a:avLst/>
          </a:prstGeom>
          <a:solidFill>
            <a:srgbClr val="1B2A41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555480" y="39319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breakdown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5532120"/>
            <a:ext cx="11247120" cy="731520"/>
          </a:xfrm>
          <a:prstGeom prst="rect">
            <a:avLst/>
          </a:prstGeom>
          <a:solidFill>
            <a:srgbClr val="1B2A41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~9,300 lines · 79 files · 26 Python  </a:t>
            </a:r>
            <a:r>
              <a:rPr lang="en-US" sz="1000" kern="0" spc="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Modes 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GEL (default) · YOLO-only · ResNet-only  </a:t>
            </a:r>
            <a:r>
              <a:rPr lang="en-US" sz="1000" kern="0" spc="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Stack 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 · PyTorch · Ultralytics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· FRACASSIST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CLINICAL DECISION SUPPORT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UI · Assist Tab</a:t>
            </a:r>
            <a:endParaRPr lang="en-US" sz="2800" dirty="0"/>
          </a:p>
        </p:txBody>
      </p:sp>
      <p:pic>
        <p:nvPicPr>
          <p:cNvPr id="8" name="Image 0" descr="/home/claude/deck/images/Assis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95528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95360" y="1371600"/>
            <a:ext cx="3108960" cy="493776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77824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CLINICIAN SEES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77824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P_final headline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77824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fracture probability + risk label (HIGH RISK · FRACTURED). The number that drives decisions.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77824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breakdown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778240" y="2816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· ResNet · DenseNet · EfficientNet — all four scores visible, with the inference source flagged (e.g. "BOX DETECTED").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778240" y="3255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selector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778240" y="35295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Ensemble Logic (GEL) · YOLO-only · ResNet-only. Default = GEL.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778240" y="3968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toggle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78240" y="42428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 heatmap or Bounding Box — clinician chooses the visual explanation type.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778240" y="4681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utility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778240" y="4956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Right-side slider · scroll wheel · reset (up to 140%).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778240" y="5394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handoff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778240" y="5669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Review button → Expert Review queue (next slide).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· FRACASSIST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WK 13 PLAN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Review Tab — Ground Truth Pipeline</a:t>
            </a:r>
            <a:endParaRPr lang="en-US" sz="2800" dirty="0"/>
          </a:p>
        </p:txBody>
      </p:sp>
      <p:pic>
        <p:nvPicPr>
          <p:cNvPr id="8" name="Image 0" descr="/home/claude/deck/images/review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95528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95360" y="1371600"/>
            <a:ext cx="3108960" cy="493776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77824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 WORKFLOW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778240" y="1783080"/>
            <a:ext cx="2743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Review queue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Cases sent for review collect in a CSV-backed queue with thumbnails and prior GEL predictions.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Condition tagging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Radiologist marks FRACTURED / NON-FRACTURED ground truth.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Bounding box drawing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Manual annotation for cases where YOLO missed or mislocalised.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Diagnosis submission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Comments + final label saved with the image ID for future training.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This is the data collection foundation any future XAI work (CBM, prototypes, counterfactuals) needs to learn from radiologist labels.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· FRACASSIST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STATUS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is Live — Not Just Evaluated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inference runs the full 4-stage GEL pipeline. The Model Status tab surfaces the internals.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743200" cy="402336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1 · RC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Coefficients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DenseNet-169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43.1%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30.9%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4754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26.0%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5303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once · γ=11.4 · base_shift=0.5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1920240"/>
            <a:ext cx="2743200" cy="402336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383280" y="192024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6616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 · OAM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6616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Trigger Per Inference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66160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Any-model trigger rate (val)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~19%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566160" y="3749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k_high (lenient)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6616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566160" y="4526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k_low (aggressive)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66160" y="4754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566160" y="5303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status surfaced in UI · clinical asymmetry encoded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09360" y="1920240"/>
            <a:ext cx="2743200" cy="402336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09360" y="192024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9224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3 · PDWF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Probability-Driven Fusion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92240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P_final (per image)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9224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1]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492240" y="3749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threshold τ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492240" y="4526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92240" y="4754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RC-weighted sum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492240" y="5303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calibrated probability replaces three threshold systems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235440" y="1920240"/>
            <a:ext cx="2743200" cy="402336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235440" y="192024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41832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4 · BVG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41832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Gate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418320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pass rate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41832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18.4%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9418320" y="3749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 rate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41832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20.8%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9418320" y="4526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418320" y="4754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P_final ≥ τ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418320" y="5303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 shown ⇔ classifier consensus agrees with detector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solidFill>
            <a:srgbClr val="1B2A41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stages execute on every prediction · all values logged · all values surfaced in the Model Status tab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6 · THESIS READINESS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</a:t>
            </a: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SUPPORTED BY SPECIFIC EXPERIMENT IDS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Confirmed Empirical Findings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5532120" cy="242316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91440" cy="242316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DEPTH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457200" cy="2743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19202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doesn't help small fracture datasets. ResNet-18+CAALMIX = 68.9% &gt; ResNet-50+CAALMIX = 62.3%. (E6/E11/E12)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2606040"/>
            <a:ext cx="457200" cy="2743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2606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34440" y="25603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CAALMIX benefit declines monotonically with depth · inverts at ResNet-50 (−0.88pp). (E4a→E6 / E9→E11 / E10→E12)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1463040"/>
            <a:ext cx="5532120" cy="242316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72200" y="1463040"/>
            <a:ext cx="91440" cy="242316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SELECTIVITY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1965960"/>
            <a:ext cx="457200" cy="2743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19202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helps shallow CNNs (+0.86pp on ResNet) · hurts feature-reuse (−6.17pp DenseNet) and compound scaling (−3.97pp EfficientNet).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2606040"/>
            <a:ext cx="457200" cy="2743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0" y="2606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25603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XRayAugMix intrinsically harmful — E8 standalone −2.17pp confirms harm is not a CLAHE-conflict artefact.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3246120"/>
            <a:ext cx="457200" cy="2743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0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0" y="32004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 consistently negative for CLAHE-trained models · only positive without CLAHE (E10 +1.32pp) · distribution-mismatch diagnosis confirmed.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931920"/>
            <a:ext cx="5532120" cy="242316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91440" cy="242316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DETECTION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" y="4434840"/>
            <a:ext cx="457200" cy="27432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5800" y="4434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234440" y="43891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600px optimal for FracAtlas · resolution increase monotonically hurts. Y1B 65.1% &gt; Y2 60.7% &gt; Y3 60.1%.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5800" y="5074920"/>
            <a:ext cx="457200" cy="27432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5800" y="5074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34440" y="50292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1:1 negative sampling hurts YOLO by −11.5pp · background regions already provide implicit negatives. (Y5)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5800" y="5715000"/>
            <a:ext cx="457200" cy="27432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5800" y="5715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234440" y="56692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patience matters: patience=10 stops too early on small noisy datasets · +14.3pp gained by patience=50. (Y1A vs Y1B)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3931920"/>
            <a:ext cx="5532120" cy="2423160"/>
          </a:xfrm>
          <a:prstGeom prst="rect">
            <a:avLst/>
          </a:prstGeom>
          <a:solidFill>
            <a:srgbClr val="152339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172200" y="3931920"/>
            <a:ext cx="91440" cy="2423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0080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&amp; GENERALISATION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0" y="4999618"/>
            <a:ext cx="45720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00800" y="5008133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49440" y="495389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fusion corrects DenseNet's calibration · threshold shifts from 0.175 → 0.400 · explains the F1 gain.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00800" y="5464437"/>
            <a:ext cx="45720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00800" y="5464437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49440" y="5418717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(RC exponent) is robustly insensitive · val AUC essentially flat across γ=1–15 (~1pp range).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0" y="5957046"/>
            <a:ext cx="45720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00800" y="595704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F12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949440" y="60449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 has the worst val→test gap (−10.7pp) · ResNet-18 0.0pp · DenseNet −4.0pp.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4513729"/>
            <a:ext cx="457200" cy="2743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4513729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4468009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 is the individual F1 champion (72.4%) but has the worst AUC (0.844) · calibration signal. (D1)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6 · THESIS READINESS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THESIS ACTUALLY ARGUES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Novel Contributions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1247120" cy="2286000"/>
          </a:xfrm>
          <a:prstGeom prst="rect">
            <a:avLst/>
          </a:prstGeom>
          <a:solidFill>
            <a:srgbClr val="1B2A41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· ALGORITHMIC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· Gated Ensemble Logic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reliability architecture via calibrated expert complementarity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2121408" cy="777240"/>
          </a:xfrm>
          <a:prstGeom prst="rect">
            <a:avLst/>
          </a:prstGeom>
          <a:solidFill>
            <a:srgbClr val="152339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1089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Expert-Dominant RC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52928" y="2788920"/>
            <a:ext cx="2121408" cy="777240"/>
          </a:xfrm>
          <a:prstGeom prst="rect">
            <a:avLst/>
          </a:prstGeom>
          <a:solidFill>
            <a:srgbClr val="152339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90088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90088" y="31089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OAM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65776" y="2788920"/>
            <a:ext cx="2121408" cy="777240"/>
          </a:xfrm>
          <a:prstGeom prst="rect">
            <a:avLst/>
          </a:prstGeom>
          <a:solidFill>
            <a:srgbClr val="152339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02936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02936" y="31089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PDWF Fusion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78624" y="2788920"/>
            <a:ext cx="2121408" cy="777240"/>
          </a:xfrm>
          <a:prstGeom prst="rect">
            <a:avLst/>
          </a:prstGeom>
          <a:solidFill>
            <a:srgbClr val="152339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15784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15784" y="31089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BVG Gate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91472" y="2788920"/>
            <a:ext cx="2121408" cy="777240"/>
          </a:xfrm>
          <a:prstGeom prst="rect">
            <a:avLst/>
          </a:prstGeom>
          <a:solidFill>
            <a:srgbClr val="152339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28632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28632" y="31089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γ×δ Grid Search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11247120" cy="1234440"/>
          </a:xfrm>
          <a:prstGeom prst="rect">
            <a:avLst/>
          </a:prstGeom>
          <a:solidFill>
            <a:srgbClr val="1B2A41"/>
          </a:solidFill>
          <a:ln w="1905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3931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· EMPIRICAL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2062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CAALMIX Architecture-Selectivity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Preprocessing-architecture compatibility is non-trivial · replicated across three architectures and two distinct mechanisms (feature reuse, compound scaling) · practical result for medical imaging practitioners.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solidFill>
            <a:srgbClr val="152339"/>
          </a:solidFill>
          <a:ln w="12700">
            <a:solidFill>
              <a:srgbClr val="48CAE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5303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ARCHITECTUR</a:t>
            </a:r>
            <a:r>
              <a:rPr lang="tr-TR" sz="1000" b="1" kern="0" spc="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is the validated novel algorithmic contribution; XAI (CBM, Prototypes, Counterfactuals) builds naturally on a reliable ensemble. </a:t>
            </a:r>
            <a:endParaRPr lang="tr-TR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i="1" dirty="0" err="1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</a:t>
            </a:r>
            <a:r>
              <a:rPr lang="en-US" sz="11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explainability and the Expert Review data collection pipeline are already live in FracAssist UI — XAI builds on this foundation.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6 · THESIS READINESS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CHAPTER WILL CARRY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Chapter Structure · Ready to Write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solidFill>
            <a:srgbClr val="1B2A41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1417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11880" y="1417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46404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18288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1828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18288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context · AI as decision support · research objectives crystallised around GEL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464040" y="1947672"/>
            <a:ext cx="914400" cy="32004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64040" y="19476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424160" y="18288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1.1–1.2 · 1.4 unblocks now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423160"/>
            <a:ext cx="11247120" cy="594360"/>
          </a:xfrm>
          <a:prstGeom prst="rect">
            <a:avLst/>
          </a:prstGeom>
          <a:solidFill>
            <a:srgbClr val="152339">
              <a:alpha val="70000"/>
            </a:srgbClr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4231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2423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11880" y="242316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detection · ensemble methods · augmentation in medical imaging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464040" y="2542032"/>
            <a:ext cx="914400" cy="32004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464040" y="25420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424160" y="24231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complete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30175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3017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Experimental Setup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11880" y="30175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FracAtlas · seed=42 clean splits · FracAtlas paper test-leak noted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64040" y="3136392"/>
            <a:ext cx="914400" cy="32004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464040" y="31363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424160" y="30175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Awaits Ch. 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611880"/>
            <a:ext cx="11247120" cy="594360"/>
          </a:xfrm>
          <a:prstGeom prst="rect">
            <a:avLst/>
          </a:prstGeom>
          <a:solidFill>
            <a:srgbClr val="152339">
              <a:alpha val="70000"/>
            </a:srgbClr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6118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51560" y="3611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11880" y="36118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Y-series · ResNet E-series · DenseNet D-series · EfficientNet F-series · CAALMIX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464040" y="3730752"/>
            <a:ext cx="914400" cy="32004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464040" y="37307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424160" y="3611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confirmed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42062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51560" y="4206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· Gated Ensemble Logic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11880" y="420624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v1→v3 ablation · 12 empirical findings · full evaluation tables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464040" y="4325112"/>
            <a:ext cx="914400" cy="32004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464040" y="43251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424160" y="42062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evidence in place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4800600"/>
            <a:ext cx="11247120" cy="594360"/>
          </a:xfrm>
          <a:prstGeom prst="rect">
            <a:avLst/>
          </a:prstGeom>
          <a:solidFill>
            <a:srgbClr val="152339">
              <a:alpha val="70000"/>
            </a:srgbClr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2920" y="48006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51560" y="48006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611880" y="48006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applicability conditions · CAALMIX selectivity implications · limitations · Future Work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464040" y="4919472"/>
            <a:ext cx="914400" cy="32004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464040" y="49194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424160" y="48006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available · awaits Ch. 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02920" y="53949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51560" y="5394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611880" y="539496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contributions · clinical framing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464040" y="5513832"/>
            <a:ext cx="914400" cy="32004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464040" y="5513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424160" y="5394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Ch. 5–6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6 · THESIS READINESS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15 JULY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Timeline · Wk 17 → Jury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solidFill>
            <a:srgbClr val="152339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phase closed.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evidence in place. </a:t>
            </a:r>
            <a:r>
              <a:rPr lang="en-US" sz="14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weeks to jury · five chapters ready to start today.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63040" y="4114800"/>
            <a:ext cx="9235440" cy="3657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44168" y="4014216"/>
            <a:ext cx="237744" cy="237744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463040" y="3749040"/>
            <a:ext cx="0" cy="320040"/>
          </a:xfrm>
          <a:prstGeom prst="line">
            <a:avLst/>
          </a:prstGeom>
          <a:noFill/>
          <a:ln w="9525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1500" y="2377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17–18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500" y="26334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12–25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1500" y="29077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 (Models) + Ch. 5 (GEL)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1500" y="3383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substantive draft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3028" y="4014216"/>
            <a:ext cx="237744" cy="237744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71900" y="4169664"/>
            <a:ext cx="0" cy="320040"/>
          </a:xfrm>
          <a:prstGeom prst="line">
            <a:avLst/>
          </a:prstGeom>
          <a:noFill/>
          <a:ln w="9525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880360" y="4572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19–20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80360" y="4828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26–Jun 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80360" y="51023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(Dataset) + Ch. 6 (Disc.)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80360" y="5577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Mid-draft review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61888" y="4014216"/>
            <a:ext cx="237744" cy="237744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80760" y="3749040"/>
            <a:ext cx="0" cy="320040"/>
          </a:xfrm>
          <a:prstGeom prst="line">
            <a:avLst/>
          </a:prstGeom>
          <a:noFill/>
          <a:ln w="9525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89220" y="2377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21–22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89220" y="26334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 9–22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89220" y="29077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 finalise · Ch. 7 · Ch. 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89220" y="3383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draft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70748" y="4014216"/>
            <a:ext cx="237744" cy="237744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89620" y="4169664"/>
            <a:ext cx="0" cy="320040"/>
          </a:xfrm>
          <a:prstGeom prst="line">
            <a:avLst/>
          </a:prstGeom>
          <a:noFill/>
          <a:ln w="9525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98080" y="4572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23–24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4828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 23–Jul 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98080" y="51023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review · revisions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0" y="5577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Submission-ready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533888" y="3968496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442448" y="3877056"/>
            <a:ext cx="512064" cy="512064"/>
          </a:xfrm>
          <a:prstGeom prst="ellipse">
            <a:avLst/>
          </a:prstGeom>
          <a:solidFill>
            <a:srgbClr val="0D1B2A">
              <a:alpha val="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698480" y="3749040"/>
            <a:ext cx="0" cy="320040"/>
          </a:xfrm>
          <a:prstGeom prst="line">
            <a:avLst/>
          </a:prstGeom>
          <a:noFill/>
          <a:ln w="9525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806940" y="2377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25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806940" y="26334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Jul 7–15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806940" y="29077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polish · defence prep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806940" y="3383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Jury · 15 July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Buffer: 1 week absorbed in revision phase · supervisor review cycle planned twice (mid + full draft)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· MSc Thesis Handoff · Wk 13–16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6510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9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· NOT A ROADMA</a:t>
            </a:r>
            <a:r>
              <a:rPr lang="tr-TR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</a:t>
            </a:r>
            <a:r>
              <a:rPr lang="tr-TR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&amp;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Delivers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solidFill>
            <a:srgbClr val="152339"/>
          </a:solidFill>
          <a:ln w="254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5486400" cy="9144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DETECTION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+8.9pp vs FracAtlas paper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6060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Y1B · mAP@0.5 = 0.651. Patience finding alone worth +14.3pp. 600px imgsz optimal. Y5 1:1 negative ratio falsified.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5486400" cy="2286000"/>
          </a:xfrm>
          <a:prstGeom prst="rect">
            <a:avLst/>
          </a:prstGeom>
          <a:solidFill>
            <a:srgbClr val="152339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0" y="1463040"/>
            <a:ext cx="54864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37960" y="1645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RELIABILITY ARCHITECTURE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1965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v3 · Val AUC 0.9060 · F1 73.94%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26060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principled stages (RC → OAM → PDWF → BVG). Five novel components. 10,716-combination joint γ×δ grid search.</a:t>
            </a:r>
            <a:r>
              <a:rPr lang="tr-T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tr-T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best VAL F1 &amp; AUC Scores of 3 different Deep CNN architectures with Reliability component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5486400" cy="2286000"/>
          </a:xfrm>
          <a:prstGeom prst="rect">
            <a:avLst/>
          </a:prstGeom>
          <a:solidFill>
            <a:srgbClr val="152339"/>
          </a:solidFill>
          <a:ln w="254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5486400" cy="9144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EMPIRICAL FINDINGS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434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backed by specific experiment IDs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" y="50749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Architecture-selectivity · depth-scaling capacity ceiling · TTA distribution-mismatch diagnosis · YOLO ablation · GEL calibration correction.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3931920"/>
            <a:ext cx="5486400" cy="2286000"/>
          </a:xfrm>
          <a:prstGeom prst="rect">
            <a:avLst/>
          </a:prstGeom>
          <a:solidFill>
            <a:srgbClr val="152339"/>
          </a:solidFill>
          <a:ln w="254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09360" y="3931920"/>
            <a:ext cx="5486400" cy="9144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3796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CLINICAL TOOL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4434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UI v2 · 4-model · live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37960" y="50749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 heatmap overlay (XAI delivered today). Expert Review tab = ground-truth infrastructure for future XAI (CBM · Prototypes · Counterfactuals).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852160"/>
            <a:ext cx="113385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9,300 lines  ·  79 files  ·  12 findings  ·  5 novel components  ·  1 working system</a:t>
            </a:r>
            <a:r>
              <a:rPr lang="tr-TR" sz="1300" b="1" kern="0" spc="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(FracAssist)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6954</Words>
  <Application>Microsoft Office PowerPoint</Application>
  <PresentationFormat>Widescreen</PresentationFormat>
  <Paragraphs>674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Arial</vt:lpstr>
      <vt:lpstr>Calibri</vt:lpstr>
      <vt:lpstr>Consolas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FracAssist — Thesis Handoff Wk 13-16</dc:title>
  <dc:subject>PptxGenJS Presentation</dc:subject>
  <dc:creator>Onur Can</dc:creator>
  <cp:lastModifiedBy>Onur Can (Student)</cp:lastModifiedBy>
  <cp:revision>36</cp:revision>
  <dcterms:created xsi:type="dcterms:W3CDTF">2026-05-11T21:00:50Z</dcterms:created>
  <dcterms:modified xsi:type="dcterms:W3CDTF">2026-05-12T08:12:42Z</dcterms:modified>
</cp:coreProperties>
</file>